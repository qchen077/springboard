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60" r:id="rId3"/>
    <p:sldId id="262" r:id="rId4"/>
    <p:sldId id="265" r:id="rId5"/>
    <p:sldId id="266" r:id="rId6"/>
    <p:sldId id="268" r:id="rId7"/>
    <p:sldId id="269" r:id="rId8"/>
    <p:sldId id="258" r:id="rId9"/>
    <p:sldId id="270" r:id="rId10"/>
    <p:sldId id="273" r:id="rId11"/>
    <p:sldId id="272" r:id="rId12"/>
    <p:sldId id="27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880"/>
    <p:restoredTop sz="94694"/>
  </p:normalViewPr>
  <p:slideViewPr>
    <p:cSldViewPr snapToGrid="0">
      <p:cViewPr varScale="1">
        <p:scale>
          <a:sx n="107" d="100"/>
          <a:sy n="107" d="100"/>
        </p:scale>
        <p:origin x="872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C110BF8-D1E1-46C9-80B4-205F4385CB79}" type="doc">
      <dgm:prSet loTypeId="urn:microsoft.com/office/officeart/2016/7/layout/BasicLinearProcessNumbered" loCatId="process" qsTypeId="urn:microsoft.com/office/officeart/2005/8/quickstyle/simple2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1A1513D0-58F5-40AF-A42C-1E6523616526}">
      <dgm:prSet/>
      <dgm:spPr/>
      <dgm:t>
        <a:bodyPr/>
        <a:lstStyle/>
        <a:p>
          <a:r>
            <a:rPr lang="en-US" b="0" i="0" baseline="0"/>
            <a:t>Build a model to classify whether an individual earns </a:t>
          </a:r>
          <a:r>
            <a:rPr lang="en-US" b="1" i="0" baseline="0"/>
            <a:t>&gt; $50K</a:t>
          </a:r>
          <a:r>
            <a:rPr lang="en-US" b="0" i="0" baseline="0"/>
            <a:t> annually</a:t>
          </a:r>
          <a:endParaRPr lang="en-US"/>
        </a:p>
      </dgm:t>
    </dgm:pt>
    <dgm:pt modelId="{02E6C69D-1ED7-46F8-B749-42A875EC0B6D}" type="parTrans" cxnId="{A5E00B27-DEEF-4DFB-81F0-2E0C7B8A0D0E}">
      <dgm:prSet/>
      <dgm:spPr/>
      <dgm:t>
        <a:bodyPr/>
        <a:lstStyle/>
        <a:p>
          <a:endParaRPr lang="en-US"/>
        </a:p>
      </dgm:t>
    </dgm:pt>
    <dgm:pt modelId="{4D7B5DE9-72E9-45A0-B572-28523D700C31}" type="sibTrans" cxnId="{A5E00B27-DEEF-4DFB-81F0-2E0C7B8A0D0E}">
      <dgm:prSet phldrT="1" phldr="0"/>
      <dgm:spPr/>
      <dgm:t>
        <a:bodyPr/>
        <a:lstStyle/>
        <a:p>
          <a:r>
            <a:rPr lang="en-US" dirty="0"/>
            <a:t>1</a:t>
          </a:r>
        </a:p>
      </dgm:t>
    </dgm:pt>
    <dgm:pt modelId="{7B787A00-A6C1-45C5-A363-73399AB8F0F5}">
      <dgm:prSet/>
      <dgm:spPr/>
      <dgm:t>
        <a:bodyPr/>
        <a:lstStyle/>
        <a:p>
          <a:r>
            <a:rPr lang="en-US" b="0" i="0" baseline="0"/>
            <a:t>Understand </a:t>
          </a:r>
          <a:r>
            <a:rPr lang="en-US" b="1" i="0" baseline="0"/>
            <a:t>key socioeconomic factors</a:t>
          </a:r>
          <a:r>
            <a:rPr lang="en-US" b="0" i="0" baseline="0"/>
            <a:t> behind income</a:t>
          </a:r>
          <a:endParaRPr lang="en-US"/>
        </a:p>
      </dgm:t>
    </dgm:pt>
    <dgm:pt modelId="{A10B8260-3485-4C5B-A6D9-5ED1097357AE}" type="parTrans" cxnId="{3A9A0F1D-8579-4E3A-B8A6-77A1CB289610}">
      <dgm:prSet/>
      <dgm:spPr/>
      <dgm:t>
        <a:bodyPr/>
        <a:lstStyle/>
        <a:p>
          <a:endParaRPr lang="en-US"/>
        </a:p>
      </dgm:t>
    </dgm:pt>
    <dgm:pt modelId="{D8472E8E-F230-470D-8313-86BE7828BAE7}" type="sibTrans" cxnId="{3A9A0F1D-8579-4E3A-B8A6-77A1CB289610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2F40FCA5-71AD-4EFE-8A14-71C1617782D7}">
      <dgm:prSet/>
      <dgm:spPr/>
      <dgm:t>
        <a:bodyPr/>
        <a:lstStyle/>
        <a:p>
          <a:r>
            <a:rPr lang="en-US" b="0" i="0" baseline="0"/>
            <a:t>Compare </a:t>
          </a:r>
          <a:r>
            <a:rPr lang="en-US" b="1" i="0" baseline="0"/>
            <a:t>baseline model (Logistic Regression)</a:t>
          </a:r>
          <a:r>
            <a:rPr lang="en-US" b="0" i="0" baseline="0"/>
            <a:t> with </a:t>
          </a:r>
          <a:r>
            <a:rPr lang="en-US" b="1" i="0" baseline="0"/>
            <a:t>XGBoost</a:t>
          </a:r>
          <a:endParaRPr lang="en-US"/>
        </a:p>
      </dgm:t>
    </dgm:pt>
    <dgm:pt modelId="{333DE2EE-015C-46FC-8838-0AAD79058B96}" type="parTrans" cxnId="{63090A78-F12B-4C3E-A301-0E93888E6EC1}">
      <dgm:prSet/>
      <dgm:spPr/>
      <dgm:t>
        <a:bodyPr/>
        <a:lstStyle/>
        <a:p>
          <a:endParaRPr lang="en-US"/>
        </a:p>
      </dgm:t>
    </dgm:pt>
    <dgm:pt modelId="{8619CA95-BFF9-4B2D-B6AA-095CF685310B}" type="sibTrans" cxnId="{63090A78-F12B-4C3E-A301-0E93888E6EC1}">
      <dgm:prSet phldrT="3" phldr="0"/>
      <dgm:spPr/>
      <dgm:t>
        <a:bodyPr/>
        <a:lstStyle/>
        <a:p>
          <a:r>
            <a:rPr lang="en-US"/>
            <a:t>3</a:t>
          </a:r>
          <a:endParaRPr lang="en-US" dirty="0"/>
        </a:p>
      </dgm:t>
    </dgm:pt>
    <dgm:pt modelId="{AC070CFF-B5C6-4F15-B037-7890214D8A87}">
      <dgm:prSet/>
      <dgm:spPr/>
      <dgm:t>
        <a:bodyPr/>
        <a:lstStyle/>
        <a:p>
          <a:r>
            <a:rPr lang="en-US" b="0" i="0" baseline="0" dirty="0"/>
            <a:t>Interpret model behavior using </a:t>
          </a:r>
          <a:r>
            <a:rPr lang="en-US" b="1" i="0" baseline="0" dirty="0"/>
            <a:t>Feature Importance+ SHAP</a:t>
          </a:r>
          <a:endParaRPr lang="en-US" dirty="0"/>
        </a:p>
      </dgm:t>
    </dgm:pt>
    <dgm:pt modelId="{2C7F3C78-7D60-4FFC-94FC-B1B6DE16D9C3}" type="parTrans" cxnId="{7F5C672E-13A5-481E-A159-792E548D73D4}">
      <dgm:prSet/>
      <dgm:spPr/>
      <dgm:t>
        <a:bodyPr/>
        <a:lstStyle/>
        <a:p>
          <a:endParaRPr lang="en-US"/>
        </a:p>
      </dgm:t>
    </dgm:pt>
    <dgm:pt modelId="{5ADD3D9E-AC8B-4A51-9878-5F6886149638}" type="sibTrans" cxnId="{7F5C672E-13A5-481E-A159-792E548D73D4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D31D74F9-3BF6-474B-A742-91B008BEA35F}" type="pres">
      <dgm:prSet presAssocID="{DC110BF8-D1E1-46C9-80B4-205F4385CB79}" presName="Name0" presStyleCnt="0">
        <dgm:presLayoutVars>
          <dgm:animLvl val="lvl"/>
          <dgm:resizeHandles val="exact"/>
        </dgm:presLayoutVars>
      </dgm:prSet>
      <dgm:spPr/>
    </dgm:pt>
    <dgm:pt modelId="{42ED9A0F-0440-8748-9A34-774C85B13447}" type="pres">
      <dgm:prSet presAssocID="{1A1513D0-58F5-40AF-A42C-1E6523616526}" presName="compositeNode" presStyleCnt="0">
        <dgm:presLayoutVars>
          <dgm:bulletEnabled val="1"/>
        </dgm:presLayoutVars>
      </dgm:prSet>
      <dgm:spPr/>
    </dgm:pt>
    <dgm:pt modelId="{B167F50D-204B-9649-8681-55BC8EE5204F}" type="pres">
      <dgm:prSet presAssocID="{1A1513D0-58F5-40AF-A42C-1E6523616526}" presName="bgRect" presStyleLbl="bgAccFollowNode1" presStyleIdx="0" presStyleCnt="4"/>
      <dgm:spPr/>
    </dgm:pt>
    <dgm:pt modelId="{8B93AA4D-9A28-0B42-AEF5-FC30676E58BA}" type="pres">
      <dgm:prSet presAssocID="{4D7B5DE9-72E9-45A0-B572-28523D700C31}" presName="sibTransNodeCircle" presStyleLbl="alignNode1" presStyleIdx="0" presStyleCnt="8">
        <dgm:presLayoutVars>
          <dgm:chMax val="0"/>
          <dgm:bulletEnabled/>
        </dgm:presLayoutVars>
      </dgm:prSet>
      <dgm:spPr/>
    </dgm:pt>
    <dgm:pt modelId="{98B3B6B3-2BFD-F448-A7DB-4563BBBC2462}" type="pres">
      <dgm:prSet presAssocID="{1A1513D0-58F5-40AF-A42C-1E6523616526}" presName="bottomLine" presStyleLbl="alignNode1" presStyleIdx="1" presStyleCnt="8">
        <dgm:presLayoutVars/>
      </dgm:prSet>
      <dgm:spPr/>
    </dgm:pt>
    <dgm:pt modelId="{B561AC5D-2B99-FB43-A213-09EDF57519AA}" type="pres">
      <dgm:prSet presAssocID="{1A1513D0-58F5-40AF-A42C-1E6523616526}" presName="nodeText" presStyleLbl="bgAccFollowNode1" presStyleIdx="0" presStyleCnt="4">
        <dgm:presLayoutVars>
          <dgm:bulletEnabled val="1"/>
        </dgm:presLayoutVars>
      </dgm:prSet>
      <dgm:spPr/>
    </dgm:pt>
    <dgm:pt modelId="{2964531C-D98A-6B40-ABA1-D6337E27E8C2}" type="pres">
      <dgm:prSet presAssocID="{4D7B5DE9-72E9-45A0-B572-28523D700C31}" presName="sibTrans" presStyleCnt="0"/>
      <dgm:spPr/>
    </dgm:pt>
    <dgm:pt modelId="{F9C9573B-3A19-3B47-A56A-C073B99E20BF}" type="pres">
      <dgm:prSet presAssocID="{7B787A00-A6C1-45C5-A363-73399AB8F0F5}" presName="compositeNode" presStyleCnt="0">
        <dgm:presLayoutVars>
          <dgm:bulletEnabled val="1"/>
        </dgm:presLayoutVars>
      </dgm:prSet>
      <dgm:spPr/>
    </dgm:pt>
    <dgm:pt modelId="{C3CD7AE8-F5E3-E846-BD20-05F7A2C24C0E}" type="pres">
      <dgm:prSet presAssocID="{7B787A00-A6C1-45C5-A363-73399AB8F0F5}" presName="bgRect" presStyleLbl="bgAccFollowNode1" presStyleIdx="1" presStyleCnt="4"/>
      <dgm:spPr/>
    </dgm:pt>
    <dgm:pt modelId="{5F4D4946-F835-2D47-BD23-E86319F3A3B0}" type="pres">
      <dgm:prSet presAssocID="{D8472E8E-F230-470D-8313-86BE7828BAE7}" presName="sibTransNodeCircle" presStyleLbl="alignNode1" presStyleIdx="2" presStyleCnt="8">
        <dgm:presLayoutVars>
          <dgm:chMax val="0"/>
          <dgm:bulletEnabled/>
        </dgm:presLayoutVars>
      </dgm:prSet>
      <dgm:spPr/>
    </dgm:pt>
    <dgm:pt modelId="{35723714-71E4-3D4E-82CF-4940138C116B}" type="pres">
      <dgm:prSet presAssocID="{7B787A00-A6C1-45C5-A363-73399AB8F0F5}" presName="bottomLine" presStyleLbl="alignNode1" presStyleIdx="3" presStyleCnt="8">
        <dgm:presLayoutVars/>
      </dgm:prSet>
      <dgm:spPr/>
    </dgm:pt>
    <dgm:pt modelId="{6A1BF638-C9EB-7F4F-B432-83E330028118}" type="pres">
      <dgm:prSet presAssocID="{7B787A00-A6C1-45C5-A363-73399AB8F0F5}" presName="nodeText" presStyleLbl="bgAccFollowNode1" presStyleIdx="1" presStyleCnt="4">
        <dgm:presLayoutVars>
          <dgm:bulletEnabled val="1"/>
        </dgm:presLayoutVars>
      </dgm:prSet>
      <dgm:spPr/>
    </dgm:pt>
    <dgm:pt modelId="{118EA16B-B509-974D-B068-ABE8669C89A4}" type="pres">
      <dgm:prSet presAssocID="{D8472E8E-F230-470D-8313-86BE7828BAE7}" presName="sibTrans" presStyleCnt="0"/>
      <dgm:spPr/>
    </dgm:pt>
    <dgm:pt modelId="{F4219D23-AE43-464D-B77E-75A30FF0DA37}" type="pres">
      <dgm:prSet presAssocID="{2F40FCA5-71AD-4EFE-8A14-71C1617782D7}" presName="compositeNode" presStyleCnt="0">
        <dgm:presLayoutVars>
          <dgm:bulletEnabled val="1"/>
        </dgm:presLayoutVars>
      </dgm:prSet>
      <dgm:spPr/>
    </dgm:pt>
    <dgm:pt modelId="{52496882-9E1F-E647-A9B0-CE5037942ECF}" type="pres">
      <dgm:prSet presAssocID="{2F40FCA5-71AD-4EFE-8A14-71C1617782D7}" presName="bgRect" presStyleLbl="bgAccFollowNode1" presStyleIdx="2" presStyleCnt="4"/>
      <dgm:spPr/>
    </dgm:pt>
    <dgm:pt modelId="{7445009A-F692-F34B-BA99-584A8812559C}" type="pres">
      <dgm:prSet presAssocID="{8619CA95-BFF9-4B2D-B6AA-095CF685310B}" presName="sibTransNodeCircle" presStyleLbl="alignNode1" presStyleIdx="4" presStyleCnt="8">
        <dgm:presLayoutVars>
          <dgm:chMax val="0"/>
          <dgm:bulletEnabled/>
        </dgm:presLayoutVars>
      </dgm:prSet>
      <dgm:spPr/>
    </dgm:pt>
    <dgm:pt modelId="{508DC28C-B118-6946-9921-5AE43FAB06A2}" type="pres">
      <dgm:prSet presAssocID="{2F40FCA5-71AD-4EFE-8A14-71C1617782D7}" presName="bottomLine" presStyleLbl="alignNode1" presStyleIdx="5" presStyleCnt="8">
        <dgm:presLayoutVars/>
      </dgm:prSet>
      <dgm:spPr/>
    </dgm:pt>
    <dgm:pt modelId="{CE5A0C83-689B-1746-B703-842D4AA96CD6}" type="pres">
      <dgm:prSet presAssocID="{2F40FCA5-71AD-4EFE-8A14-71C1617782D7}" presName="nodeText" presStyleLbl="bgAccFollowNode1" presStyleIdx="2" presStyleCnt="4">
        <dgm:presLayoutVars>
          <dgm:bulletEnabled val="1"/>
        </dgm:presLayoutVars>
      </dgm:prSet>
      <dgm:spPr/>
    </dgm:pt>
    <dgm:pt modelId="{E70DFA0C-82CC-D64C-8AEB-C34958F3886D}" type="pres">
      <dgm:prSet presAssocID="{8619CA95-BFF9-4B2D-B6AA-095CF685310B}" presName="sibTrans" presStyleCnt="0"/>
      <dgm:spPr/>
    </dgm:pt>
    <dgm:pt modelId="{D0495957-5ACC-F847-8720-28D47B6E8C61}" type="pres">
      <dgm:prSet presAssocID="{AC070CFF-B5C6-4F15-B037-7890214D8A87}" presName="compositeNode" presStyleCnt="0">
        <dgm:presLayoutVars>
          <dgm:bulletEnabled val="1"/>
        </dgm:presLayoutVars>
      </dgm:prSet>
      <dgm:spPr/>
    </dgm:pt>
    <dgm:pt modelId="{10D83AAD-0174-F443-8440-CFA1FCBE2FD1}" type="pres">
      <dgm:prSet presAssocID="{AC070CFF-B5C6-4F15-B037-7890214D8A87}" presName="bgRect" presStyleLbl="bgAccFollowNode1" presStyleIdx="3" presStyleCnt="4"/>
      <dgm:spPr/>
    </dgm:pt>
    <dgm:pt modelId="{5E38CF66-9274-BA49-90A3-CA7281AA197A}" type="pres">
      <dgm:prSet presAssocID="{5ADD3D9E-AC8B-4A51-9878-5F6886149638}" presName="sibTransNodeCircle" presStyleLbl="alignNode1" presStyleIdx="6" presStyleCnt="8">
        <dgm:presLayoutVars>
          <dgm:chMax val="0"/>
          <dgm:bulletEnabled/>
        </dgm:presLayoutVars>
      </dgm:prSet>
      <dgm:spPr/>
    </dgm:pt>
    <dgm:pt modelId="{26D66D40-8941-0B47-9CD8-E6F42435C844}" type="pres">
      <dgm:prSet presAssocID="{AC070CFF-B5C6-4F15-B037-7890214D8A87}" presName="bottomLine" presStyleLbl="alignNode1" presStyleIdx="7" presStyleCnt="8">
        <dgm:presLayoutVars/>
      </dgm:prSet>
      <dgm:spPr/>
    </dgm:pt>
    <dgm:pt modelId="{47579E5F-72D6-FF4A-868D-3915913C508F}" type="pres">
      <dgm:prSet presAssocID="{AC070CFF-B5C6-4F15-B037-7890214D8A87}" presName="nodeText" presStyleLbl="bgAccFollowNode1" presStyleIdx="3" presStyleCnt="4">
        <dgm:presLayoutVars>
          <dgm:bulletEnabled val="1"/>
        </dgm:presLayoutVars>
      </dgm:prSet>
      <dgm:spPr/>
    </dgm:pt>
  </dgm:ptLst>
  <dgm:cxnLst>
    <dgm:cxn modelId="{57A74912-C249-9649-B107-8B40D355EA82}" type="presOf" srcId="{D8472E8E-F230-470D-8313-86BE7828BAE7}" destId="{5F4D4946-F835-2D47-BD23-E86319F3A3B0}" srcOrd="0" destOrd="0" presId="urn:microsoft.com/office/officeart/2016/7/layout/BasicLinearProcessNumbered"/>
    <dgm:cxn modelId="{A9567D13-4D74-8544-8A6F-DB601BE7512E}" type="presOf" srcId="{1A1513D0-58F5-40AF-A42C-1E6523616526}" destId="{B561AC5D-2B99-FB43-A213-09EDF57519AA}" srcOrd="1" destOrd="0" presId="urn:microsoft.com/office/officeart/2016/7/layout/BasicLinearProcessNumbered"/>
    <dgm:cxn modelId="{B7B07D15-A195-0444-A11E-12BDAE0B005E}" type="presOf" srcId="{AC070CFF-B5C6-4F15-B037-7890214D8A87}" destId="{10D83AAD-0174-F443-8440-CFA1FCBE2FD1}" srcOrd="0" destOrd="0" presId="urn:microsoft.com/office/officeart/2016/7/layout/BasicLinearProcessNumbered"/>
    <dgm:cxn modelId="{3A9A0F1D-8579-4E3A-B8A6-77A1CB289610}" srcId="{DC110BF8-D1E1-46C9-80B4-205F4385CB79}" destId="{7B787A00-A6C1-45C5-A363-73399AB8F0F5}" srcOrd="1" destOrd="0" parTransId="{A10B8260-3485-4C5B-A6D9-5ED1097357AE}" sibTransId="{D8472E8E-F230-470D-8313-86BE7828BAE7}"/>
    <dgm:cxn modelId="{646FF61F-113B-8D48-8892-F7701BEDC0E2}" type="presOf" srcId="{7B787A00-A6C1-45C5-A363-73399AB8F0F5}" destId="{6A1BF638-C9EB-7F4F-B432-83E330028118}" srcOrd="1" destOrd="0" presId="urn:microsoft.com/office/officeart/2016/7/layout/BasicLinearProcessNumbered"/>
    <dgm:cxn modelId="{58980C20-C35B-E343-9D3A-9D973BCB557E}" type="presOf" srcId="{DC110BF8-D1E1-46C9-80B4-205F4385CB79}" destId="{D31D74F9-3BF6-474B-A742-91B008BEA35F}" srcOrd="0" destOrd="0" presId="urn:microsoft.com/office/officeart/2016/7/layout/BasicLinearProcessNumbered"/>
    <dgm:cxn modelId="{42301F22-CEB0-0C45-8C5C-188B13FDD4D0}" type="presOf" srcId="{5ADD3D9E-AC8B-4A51-9878-5F6886149638}" destId="{5E38CF66-9274-BA49-90A3-CA7281AA197A}" srcOrd="0" destOrd="0" presId="urn:microsoft.com/office/officeart/2016/7/layout/BasicLinearProcessNumbered"/>
    <dgm:cxn modelId="{A5E00B27-DEEF-4DFB-81F0-2E0C7B8A0D0E}" srcId="{DC110BF8-D1E1-46C9-80B4-205F4385CB79}" destId="{1A1513D0-58F5-40AF-A42C-1E6523616526}" srcOrd="0" destOrd="0" parTransId="{02E6C69D-1ED7-46F8-B749-42A875EC0B6D}" sibTransId="{4D7B5DE9-72E9-45A0-B572-28523D700C31}"/>
    <dgm:cxn modelId="{491FCC2C-96D1-904E-B36B-0FEC138EE302}" type="presOf" srcId="{8619CA95-BFF9-4B2D-B6AA-095CF685310B}" destId="{7445009A-F692-F34B-BA99-584A8812559C}" srcOrd="0" destOrd="0" presId="urn:microsoft.com/office/officeart/2016/7/layout/BasicLinearProcessNumbered"/>
    <dgm:cxn modelId="{7F5C672E-13A5-481E-A159-792E548D73D4}" srcId="{DC110BF8-D1E1-46C9-80B4-205F4385CB79}" destId="{AC070CFF-B5C6-4F15-B037-7890214D8A87}" srcOrd="3" destOrd="0" parTransId="{2C7F3C78-7D60-4FFC-94FC-B1B6DE16D9C3}" sibTransId="{5ADD3D9E-AC8B-4A51-9878-5F6886149638}"/>
    <dgm:cxn modelId="{EBD5DE4F-8922-2E4F-BD8B-32BC26FFA47B}" type="presOf" srcId="{AC070CFF-B5C6-4F15-B037-7890214D8A87}" destId="{47579E5F-72D6-FF4A-868D-3915913C508F}" srcOrd="1" destOrd="0" presId="urn:microsoft.com/office/officeart/2016/7/layout/BasicLinearProcessNumbered"/>
    <dgm:cxn modelId="{5B677D72-D5DE-2748-951F-BE9F2F893C92}" type="presOf" srcId="{2F40FCA5-71AD-4EFE-8A14-71C1617782D7}" destId="{52496882-9E1F-E647-A9B0-CE5037942ECF}" srcOrd="0" destOrd="0" presId="urn:microsoft.com/office/officeart/2016/7/layout/BasicLinearProcessNumbered"/>
    <dgm:cxn modelId="{63090A78-F12B-4C3E-A301-0E93888E6EC1}" srcId="{DC110BF8-D1E1-46C9-80B4-205F4385CB79}" destId="{2F40FCA5-71AD-4EFE-8A14-71C1617782D7}" srcOrd="2" destOrd="0" parTransId="{333DE2EE-015C-46FC-8838-0AAD79058B96}" sibTransId="{8619CA95-BFF9-4B2D-B6AA-095CF685310B}"/>
    <dgm:cxn modelId="{26BCEE82-1553-7E49-89FD-2F1386593178}" type="presOf" srcId="{1A1513D0-58F5-40AF-A42C-1E6523616526}" destId="{B167F50D-204B-9649-8681-55BC8EE5204F}" srcOrd="0" destOrd="0" presId="urn:microsoft.com/office/officeart/2016/7/layout/BasicLinearProcessNumbered"/>
    <dgm:cxn modelId="{5AC78DBB-B57E-7149-A4ED-8AE8F86C37DE}" type="presOf" srcId="{2F40FCA5-71AD-4EFE-8A14-71C1617782D7}" destId="{CE5A0C83-689B-1746-B703-842D4AA96CD6}" srcOrd="1" destOrd="0" presId="urn:microsoft.com/office/officeart/2016/7/layout/BasicLinearProcessNumbered"/>
    <dgm:cxn modelId="{4ABE9BE0-4235-A741-878C-3885EB62BA79}" type="presOf" srcId="{4D7B5DE9-72E9-45A0-B572-28523D700C31}" destId="{8B93AA4D-9A28-0B42-AEF5-FC30676E58BA}" srcOrd="0" destOrd="0" presId="urn:microsoft.com/office/officeart/2016/7/layout/BasicLinearProcessNumbered"/>
    <dgm:cxn modelId="{5097A5FE-14E2-1340-909F-76B9DB5C25D7}" type="presOf" srcId="{7B787A00-A6C1-45C5-A363-73399AB8F0F5}" destId="{C3CD7AE8-F5E3-E846-BD20-05F7A2C24C0E}" srcOrd="0" destOrd="0" presId="urn:microsoft.com/office/officeart/2016/7/layout/BasicLinearProcessNumbered"/>
    <dgm:cxn modelId="{33A8802B-FAC6-C943-81C1-BF4673DEE6EA}" type="presParOf" srcId="{D31D74F9-3BF6-474B-A742-91B008BEA35F}" destId="{42ED9A0F-0440-8748-9A34-774C85B13447}" srcOrd="0" destOrd="0" presId="urn:microsoft.com/office/officeart/2016/7/layout/BasicLinearProcessNumbered"/>
    <dgm:cxn modelId="{A6F788E9-AC06-F848-B1BE-F00BAB2FA48B}" type="presParOf" srcId="{42ED9A0F-0440-8748-9A34-774C85B13447}" destId="{B167F50D-204B-9649-8681-55BC8EE5204F}" srcOrd="0" destOrd="0" presId="urn:microsoft.com/office/officeart/2016/7/layout/BasicLinearProcessNumbered"/>
    <dgm:cxn modelId="{8DAC8016-4634-2A4E-A5EB-E97C9BB6BDF5}" type="presParOf" srcId="{42ED9A0F-0440-8748-9A34-774C85B13447}" destId="{8B93AA4D-9A28-0B42-AEF5-FC30676E58BA}" srcOrd="1" destOrd="0" presId="urn:microsoft.com/office/officeart/2016/7/layout/BasicLinearProcessNumbered"/>
    <dgm:cxn modelId="{5C9B6A04-61DE-974E-A792-A6165AA4B363}" type="presParOf" srcId="{42ED9A0F-0440-8748-9A34-774C85B13447}" destId="{98B3B6B3-2BFD-F448-A7DB-4563BBBC2462}" srcOrd="2" destOrd="0" presId="urn:microsoft.com/office/officeart/2016/7/layout/BasicLinearProcessNumbered"/>
    <dgm:cxn modelId="{56537E0C-FD32-5A49-A394-18FC121B8F54}" type="presParOf" srcId="{42ED9A0F-0440-8748-9A34-774C85B13447}" destId="{B561AC5D-2B99-FB43-A213-09EDF57519AA}" srcOrd="3" destOrd="0" presId="urn:microsoft.com/office/officeart/2016/7/layout/BasicLinearProcessNumbered"/>
    <dgm:cxn modelId="{A1BE5561-4E0F-4046-8528-616381D0D084}" type="presParOf" srcId="{D31D74F9-3BF6-474B-A742-91B008BEA35F}" destId="{2964531C-D98A-6B40-ABA1-D6337E27E8C2}" srcOrd="1" destOrd="0" presId="urn:microsoft.com/office/officeart/2016/7/layout/BasicLinearProcessNumbered"/>
    <dgm:cxn modelId="{238625A7-79F5-354B-A68C-9AEE0AFE59D2}" type="presParOf" srcId="{D31D74F9-3BF6-474B-A742-91B008BEA35F}" destId="{F9C9573B-3A19-3B47-A56A-C073B99E20BF}" srcOrd="2" destOrd="0" presId="urn:microsoft.com/office/officeart/2016/7/layout/BasicLinearProcessNumbered"/>
    <dgm:cxn modelId="{D68F68AB-B007-834C-9A8A-F48B41398000}" type="presParOf" srcId="{F9C9573B-3A19-3B47-A56A-C073B99E20BF}" destId="{C3CD7AE8-F5E3-E846-BD20-05F7A2C24C0E}" srcOrd="0" destOrd="0" presId="urn:microsoft.com/office/officeart/2016/7/layout/BasicLinearProcessNumbered"/>
    <dgm:cxn modelId="{71B6D51D-3817-EC49-B779-3A3D49A29576}" type="presParOf" srcId="{F9C9573B-3A19-3B47-A56A-C073B99E20BF}" destId="{5F4D4946-F835-2D47-BD23-E86319F3A3B0}" srcOrd="1" destOrd="0" presId="urn:microsoft.com/office/officeart/2016/7/layout/BasicLinearProcessNumbered"/>
    <dgm:cxn modelId="{C085D38B-7BC2-8F46-95CC-0EA60314CE47}" type="presParOf" srcId="{F9C9573B-3A19-3B47-A56A-C073B99E20BF}" destId="{35723714-71E4-3D4E-82CF-4940138C116B}" srcOrd="2" destOrd="0" presId="urn:microsoft.com/office/officeart/2016/7/layout/BasicLinearProcessNumbered"/>
    <dgm:cxn modelId="{E1069FA8-846F-1640-88E2-BEDA24570480}" type="presParOf" srcId="{F9C9573B-3A19-3B47-A56A-C073B99E20BF}" destId="{6A1BF638-C9EB-7F4F-B432-83E330028118}" srcOrd="3" destOrd="0" presId="urn:microsoft.com/office/officeart/2016/7/layout/BasicLinearProcessNumbered"/>
    <dgm:cxn modelId="{24D62690-F981-154E-8508-881D6205C060}" type="presParOf" srcId="{D31D74F9-3BF6-474B-A742-91B008BEA35F}" destId="{118EA16B-B509-974D-B068-ABE8669C89A4}" srcOrd="3" destOrd="0" presId="urn:microsoft.com/office/officeart/2016/7/layout/BasicLinearProcessNumbered"/>
    <dgm:cxn modelId="{1B3D9490-A5E5-8847-BDB3-D854EEEA0CF1}" type="presParOf" srcId="{D31D74F9-3BF6-474B-A742-91B008BEA35F}" destId="{F4219D23-AE43-464D-B77E-75A30FF0DA37}" srcOrd="4" destOrd="0" presId="urn:microsoft.com/office/officeart/2016/7/layout/BasicLinearProcessNumbered"/>
    <dgm:cxn modelId="{C58EFF0A-44E4-E64F-A63A-D52A6DD57BD4}" type="presParOf" srcId="{F4219D23-AE43-464D-B77E-75A30FF0DA37}" destId="{52496882-9E1F-E647-A9B0-CE5037942ECF}" srcOrd="0" destOrd="0" presId="urn:microsoft.com/office/officeart/2016/7/layout/BasicLinearProcessNumbered"/>
    <dgm:cxn modelId="{076FC536-2802-3745-8434-378829BCF45E}" type="presParOf" srcId="{F4219D23-AE43-464D-B77E-75A30FF0DA37}" destId="{7445009A-F692-F34B-BA99-584A8812559C}" srcOrd="1" destOrd="0" presId="urn:microsoft.com/office/officeart/2016/7/layout/BasicLinearProcessNumbered"/>
    <dgm:cxn modelId="{11837185-C866-EF41-8055-41E461250DC2}" type="presParOf" srcId="{F4219D23-AE43-464D-B77E-75A30FF0DA37}" destId="{508DC28C-B118-6946-9921-5AE43FAB06A2}" srcOrd="2" destOrd="0" presId="urn:microsoft.com/office/officeart/2016/7/layout/BasicLinearProcessNumbered"/>
    <dgm:cxn modelId="{CC639675-693D-5446-87C8-35AD327D9B4A}" type="presParOf" srcId="{F4219D23-AE43-464D-B77E-75A30FF0DA37}" destId="{CE5A0C83-689B-1746-B703-842D4AA96CD6}" srcOrd="3" destOrd="0" presId="urn:microsoft.com/office/officeart/2016/7/layout/BasicLinearProcessNumbered"/>
    <dgm:cxn modelId="{A97A3BA5-9817-474F-8EB2-81E27B47433C}" type="presParOf" srcId="{D31D74F9-3BF6-474B-A742-91B008BEA35F}" destId="{E70DFA0C-82CC-D64C-8AEB-C34958F3886D}" srcOrd="5" destOrd="0" presId="urn:microsoft.com/office/officeart/2016/7/layout/BasicLinearProcessNumbered"/>
    <dgm:cxn modelId="{C5F81E27-D9A9-EF46-8907-4B838699C460}" type="presParOf" srcId="{D31D74F9-3BF6-474B-A742-91B008BEA35F}" destId="{D0495957-5ACC-F847-8720-28D47B6E8C61}" srcOrd="6" destOrd="0" presId="urn:microsoft.com/office/officeart/2016/7/layout/BasicLinearProcessNumbered"/>
    <dgm:cxn modelId="{7C7BADEB-A0C1-E04D-97F0-663E06A0753E}" type="presParOf" srcId="{D0495957-5ACC-F847-8720-28D47B6E8C61}" destId="{10D83AAD-0174-F443-8440-CFA1FCBE2FD1}" srcOrd="0" destOrd="0" presId="urn:microsoft.com/office/officeart/2016/7/layout/BasicLinearProcessNumbered"/>
    <dgm:cxn modelId="{B312BE93-6EED-7A40-8296-995044B0CCF9}" type="presParOf" srcId="{D0495957-5ACC-F847-8720-28D47B6E8C61}" destId="{5E38CF66-9274-BA49-90A3-CA7281AA197A}" srcOrd="1" destOrd="0" presId="urn:microsoft.com/office/officeart/2016/7/layout/BasicLinearProcessNumbered"/>
    <dgm:cxn modelId="{5DA22F35-2437-1B46-9FF9-A8CF42D40351}" type="presParOf" srcId="{D0495957-5ACC-F847-8720-28D47B6E8C61}" destId="{26D66D40-8941-0B47-9CD8-E6F42435C844}" srcOrd="2" destOrd="0" presId="urn:microsoft.com/office/officeart/2016/7/layout/BasicLinearProcessNumbered"/>
    <dgm:cxn modelId="{A799E5EA-5C3D-D24B-9E6B-08665C07B1A6}" type="presParOf" srcId="{D0495957-5ACC-F847-8720-28D47B6E8C61}" destId="{47579E5F-72D6-FF4A-868D-3915913C508F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C110BF8-D1E1-46C9-80B4-205F4385CB79}" type="doc">
      <dgm:prSet loTypeId="urn:microsoft.com/office/officeart/2005/8/layout/vList2" loCatId="list" qsTypeId="urn:microsoft.com/office/officeart/2005/8/quickstyle/simple4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969AD4A0-4C3D-1D46-BB03-5DFF4006BC49}">
      <dgm:prSet/>
      <dgm:spPr/>
      <dgm:t>
        <a:bodyPr/>
        <a:lstStyle/>
        <a:p>
          <a:r>
            <a:rPr lang="en-US"/>
            <a:t>Adult Census dataset (48,842 rows, 15+ features)</a:t>
          </a:r>
        </a:p>
      </dgm:t>
    </dgm:pt>
    <dgm:pt modelId="{CBAD18DE-0AF6-F449-9FA2-C67191A83554}" type="sibTrans" cxnId="{D280C731-ED7D-4E4E-94EC-6313E205AAF8}">
      <dgm:prSet phldrT="1" phldr="0"/>
      <dgm:spPr/>
      <dgm:t>
        <a:bodyPr/>
        <a:lstStyle/>
        <a:p>
          <a:endParaRPr lang="en-US"/>
        </a:p>
      </dgm:t>
    </dgm:pt>
    <dgm:pt modelId="{F2A5892A-E938-1347-85EF-F21771A18B49}" type="parTrans" cxnId="{D280C731-ED7D-4E4E-94EC-6313E205AAF8}">
      <dgm:prSet/>
      <dgm:spPr/>
      <dgm:t>
        <a:bodyPr/>
        <a:lstStyle/>
        <a:p>
          <a:endParaRPr lang="en-US"/>
        </a:p>
      </dgm:t>
    </dgm:pt>
    <dgm:pt modelId="{A12F2B0F-131D-AE4C-9C8A-9CC5011FDACB}">
      <dgm:prSet/>
      <dgm:spPr/>
      <dgm:t>
        <a:bodyPr/>
        <a:lstStyle/>
        <a:p>
          <a:r>
            <a:rPr lang="en-US"/>
            <a:t>Target variable: </a:t>
          </a:r>
          <a:r>
            <a:rPr lang="en-US" b="1"/>
            <a:t>high_income</a:t>
          </a:r>
          <a:r>
            <a:rPr lang="en-US"/>
            <a:t> (1 = &gt;50K, 0 = ≤50K)</a:t>
          </a:r>
        </a:p>
      </dgm:t>
    </dgm:pt>
    <dgm:pt modelId="{9B61D214-2643-B94A-9619-C1D97DAEC566}" type="sibTrans" cxnId="{85EE958A-BABB-C042-BE6A-54EB454D207E}">
      <dgm:prSet phldrT="2" phldr="0"/>
      <dgm:spPr/>
      <dgm:t>
        <a:bodyPr/>
        <a:lstStyle/>
        <a:p>
          <a:endParaRPr lang="en-US"/>
        </a:p>
      </dgm:t>
    </dgm:pt>
    <dgm:pt modelId="{D6F2F0ED-E71D-174A-9CD3-8DA6E8481419}" type="parTrans" cxnId="{85EE958A-BABB-C042-BE6A-54EB454D207E}">
      <dgm:prSet/>
      <dgm:spPr/>
      <dgm:t>
        <a:bodyPr/>
        <a:lstStyle/>
        <a:p>
          <a:endParaRPr lang="en-US"/>
        </a:p>
      </dgm:t>
    </dgm:pt>
    <dgm:pt modelId="{4E51D7D8-D538-BE49-AAC9-27586C8B6897}">
      <dgm:prSet/>
      <dgm:spPr/>
      <dgm:t>
        <a:bodyPr/>
        <a:lstStyle/>
        <a:p>
          <a:r>
            <a:rPr lang="en-US"/>
            <a:t>Features include:</a:t>
          </a:r>
        </a:p>
      </dgm:t>
    </dgm:pt>
    <dgm:pt modelId="{F3C95A86-7159-9A45-AC25-7829E4881EBF}" type="sibTrans" cxnId="{46FB63DD-8519-FD47-A80D-DFCAA73543E0}">
      <dgm:prSet phldrT="3" phldr="0"/>
      <dgm:spPr/>
      <dgm:t>
        <a:bodyPr/>
        <a:lstStyle/>
        <a:p>
          <a:endParaRPr lang="en-US"/>
        </a:p>
      </dgm:t>
    </dgm:pt>
    <dgm:pt modelId="{5389620A-4653-0D48-B35A-D55FCAC88BB6}" type="parTrans" cxnId="{46FB63DD-8519-FD47-A80D-DFCAA73543E0}">
      <dgm:prSet/>
      <dgm:spPr/>
      <dgm:t>
        <a:bodyPr/>
        <a:lstStyle/>
        <a:p>
          <a:endParaRPr lang="en-US"/>
        </a:p>
      </dgm:t>
    </dgm:pt>
    <dgm:pt modelId="{0D09F069-BE94-E442-91CB-CB58B4F0BE5B}">
      <dgm:prSet/>
      <dgm:spPr/>
      <dgm:t>
        <a:bodyPr/>
        <a:lstStyle/>
        <a:p>
          <a:r>
            <a:rPr lang="en-US"/>
            <a:t>Age, education, marital status</a:t>
          </a:r>
        </a:p>
      </dgm:t>
    </dgm:pt>
    <dgm:pt modelId="{F6B7C5A0-035A-AA45-8BBD-E573B1864DDC}" type="sibTrans" cxnId="{4178AECC-9E5A-804B-8B46-E9C4D4A693AD}">
      <dgm:prSet phldrT="4" phldr="0"/>
      <dgm:spPr/>
      <dgm:t>
        <a:bodyPr/>
        <a:lstStyle/>
        <a:p>
          <a:endParaRPr lang="en-US"/>
        </a:p>
      </dgm:t>
    </dgm:pt>
    <dgm:pt modelId="{5C2ED5E1-B366-104F-A1C4-5463C61D7C0B}" type="parTrans" cxnId="{4178AECC-9E5A-804B-8B46-E9C4D4A693AD}">
      <dgm:prSet/>
      <dgm:spPr/>
      <dgm:t>
        <a:bodyPr/>
        <a:lstStyle/>
        <a:p>
          <a:endParaRPr lang="en-US"/>
        </a:p>
      </dgm:t>
    </dgm:pt>
    <dgm:pt modelId="{9A1801FF-2434-0A4A-B980-661BE7AEC5C4}">
      <dgm:prSet/>
      <dgm:spPr/>
      <dgm:t>
        <a:bodyPr/>
        <a:lstStyle/>
        <a:p>
          <a:r>
            <a:rPr lang="en-US"/>
            <a:t>Occupation, capital gain/loss</a:t>
          </a:r>
        </a:p>
      </dgm:t>
    </dgm:pt>
    <dgm:pt modelId="{D0268944-E215-B648-A588-310E2F6AC074}" type="sibTrans" cxnId="{4D934395-0920-F24C-B8E0-65B6EC057600}">
      <dgm:prSet phldrT="5" phldr="0"/>
      <dgm:spPr/>
      <dgm:t>
        <a:bodyPr/>
        <a:lstStyle/>
        <a:p>
          <a:endParaRPr lang="en-US"/>
        </a:p>
      </dgm:t>
    </dgm:pt>
    <dgm:pt modelId="{BE70627C-F497-FA41-AB87-8D904A9C9A36}" type="parTrans" cxnId="{4D934395-0920-F24C-B8E0-65B6EC057600}">
      <dgm:prSet/>
      <dgm:spPr/>
      <dgm:t>
        <a:bodyPr/>
        <a:lstStyle/>
        <a:p>
          <a:endParaRPr lang="en-US"/>
        </a:p>
      </dgm:t>
    </dgm:pt>
    <dgm:pt modelId="{132C8178-6431-F84E-B397-197720C54339}">
      <dgm:prSet/>
      <dgm:spPr/>
      <dgm:t>
        <a:bodyPr/>
        <a:lstStyle/>
        <a:p>
          <a:r>
            <a:rPr lang="en-US"/>
            <a:t>Hours per week</a:t>
          </a:r>
        </a:p>
      </dgm:t>
    </dgm:pt>
    <dgm:pt modelId="{2898835D-5787-6E44-89D0-81FFC79D8858}" type="sibTrans" cxnId="{1E727335-7670-054A-854B-693417DC8357}">
      <dgm:prSet phldrT="6" phldr="0"/>
      <dgm:spPr/>
      <dgm:t>
        <a:bodyPr/>
        <a:lstStyle/>
        <a:p>
          <a:endParaRPr lang="en-US"/>
        </a:p>
      </dgm:t>
    </dgm:pt>
    <dgm:pt modelId="{CBABEA77-98B9-794A-9434-B1A40BD7395A}" type="parTrans" cxnId="{1E727335-7670-054A-854B-693417DC8357}">
      <dgm:prSet/>
      <dgm:spPr/>
      <dgm:t>
        <a:bodyPr/>
        <a:lstStyle/>
        <a:p>
          <a:endParaRPr lang="en-US"/>
        </a:p>
      </dgm:t>
    </dgm:pt>
    <dgm:pt modelId="{BB9D40A3-3C39-1942-9675-6EFE2B01556B}">
      <dgm:prSet/>
      <dgm:spPr/>
      <dgm:t>
        <a:bodyPr/>
        <a:lstStyle/>
        <a:p>
          <a:r>
            <a:rPr lang="en-US"/>
            <a:t>Demographics &amp; work information</a:t>
          </a:r>
        </a:p>
      </dgm:t>
    </dgm:pt>
    <dgm:pt modelId="{FFA7B3DC-9805-CB44-9AB5-C5126E72F80A}" type="sibTrans" cxnId="{62D72E34-9218-2244-BBF0-7FF3C1A83462}">
      <dgm:prSet phldrT="7" phldr="0"/>
      <dgm:spPr/>
      <dgm:t>
        <a:bodyPr/>
        <a:lstStyle/>
        <a:p>
          <a:endParaRPr lang="en-US"/>
        </a:p>
      </dgm:t>
    </dgm:pt>
    <dgm:pt modelId="{1E6B5D72-EF8B-9241-AADD-66D3E316B806}" type="parTrans" cxnId="{62D72E34-9218-2244-BBF0-7FF3C1A83462}">
      <dgm:prSet/>
      <dgm:spPr/>
      <dgm:t>
        <a:bodyPr/>
        <a:lstStyle/>
        <a:p>
          <a:endParaRPr lang="en-US"/>
        </a:p>
      </dgm:t>
    </dgm:pt>
    <dgm:pt modelId="{FE18F82F-92B9-9548-851A-3769294845DA}" type="pres">
      <dgm:prSet presAssocID="{DC110BF8-D1E1-46C9-80B4-205F4385CB79}" presName="linear" presStyleCnt="0">
        <dgm:presLayoutVars>
          <dgm:animLvl val="lvl"/>
          <dgm:resizeHandles val="exact"/>
        </dgm:presLayoutVars>
      </dgm:prSet>
      <dgm:spPr/>
    </dgm:pt>
    <dgm:pt modelId="{81F25CBB-2FAD-1445-80AA-3238C9AEB3F1}" type="pres">
      <dgm:prSet presAssocID="{969AD4A0-4C3D-1D46-BB03-5DFF4006BC49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5E1D2D87-3942-774A-9AC9-0ABE4F607757}" type="pres">
      <dgm:prSet presAssocID="{CBAD18DE-0AF6-F449-9FA2-C67191A83554}" presName="spacer" presStyleCnt="0"/>
      <dgm:spPr/>
    </dgm:pt>
    <dgm:pt modelId="{5BC82BB6-F681-5C42-B9E9-8C6B8215AAF8}" type="pres">
      <dgm:prSet presAssocID="{A12F2B0F-131D-AE4C-9C8A-9CC5011FDACB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7AE6268A-4422-2949-8F98-5E7537671C34}" type="pres">
      <dgm:prSet presAssocID="{9B61D214-2643-B94A-9619-C1D97DAEC566}" presName="spacer" presStyleCnt="0"/>
      <dgm:spPr/>
    </dgm:pt>
    <dgm:pt modelId="{714AE9A2-B5E7-7643-A9D2-19B79385B3E3}" type="pres">
      <dgm:prSet presAssocID="{4E51D7D8-D538-BE49-AAC9-27586C8B6897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5B7C8165-0E5B-2E49-92AD-00FC0E3DDF35}" type="pres">
      <dgm:prSet presAssocID="{4E51D7D8-D538-BE49-AAC9-27586C8B6897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D4194B10-F191-164C-90B0-40B11DD843B6}" type="presOf" srcId="{DC110BF8-D1E1-46C9-80B4-205F4385CB79}" destId="{FE18F82F-92B9-9548-851A-3769294845DA}" srcOrd="0" destOrd="0" presId="urn:microsoft.com/office/officeart/2005/8/layout/vList2"/>
    <dgm:cxn modelId="{9362F219-3460-DF48-9285-F3686A099430}" type="presOf" srcId="{BB9D40A3-3C39-1942-9675-6EFE2B01556B}" destId="{5B7C8165-0E5B-2E49-92AD-00FC0E3DDF35}" srcOrd="0" destOrd="3" presId="urn:microsoft.com/office/officeart/2005/8/layout/vList2"/>
    <dgm:cxn modelId="{D280C731-ED7D-4E4E-94EC-6313E205AAF8}" srcId="{DC110BF8-D1E1-46C9-80B4-205F4385CB79}" destId="{969AD4A0-4C3D-1D46-BB03-5DFF4006BC49}" srcOrd="0" destOrd="0" parTransId="{F2A5892A-E938-1347-85EF-F21771A18B49}" sibTransId="{CBAD18DE-0AF6-F449-9FA2-C67191A83554}"/>
    <dgm:cxn modelId="{5C554233-C9D3-2B49-878E-2F3595844ECB}" type="presOf" srcId="{4E51D7D8-D538-BE49-AAC9-27586C8B6897}" destId="{714AE9A2-B5E7-7643-A9D2-19B79385B3E3}" srcOrd="0" destOrd="0" presId="urn:microsoft.com/office/officeart/2005/8/layout/vList2"/>
    <dgm:cxn modelId="{62D72E34-9218-2244-BBF0-7FF3C1A83462}" srcId="{4E51D7D8-D538-BE49-AAC9-27586C8B6897}" destId="{BB9D40A3-3C39-1942-9675-6EFE2B01556B}" srcOrd="3" destOrd="0" parTransId="{1E6B5D72-EF8B-9241-AADD-66D3E316B806}" sibTransId="{FFA7B3DC-9805-CB44-9AB5-C5126E72F80A}"/>
    <dgm:cxn modelId="{1E727335-7670-054A-854B-693417DC8357}" srcId="{4E51D7D8-D538-BE49-AAC9-27586C8B6897}" destId="{132C8178-6431-F84E-B397-197720C54339}" srcOrd="2" destOrd="0" parTransId="{CBABEA77-98B9-794A-9434-B1A40BD7395A}" sibTransId="{2898835D-5787-6E44-89D0-81FFC79D8858}"/>
    <dgm:cxn modelId="{E6E83573-B4E3-A74B-95C2-E57FB809E70C}" type="presOf" srcId="{0D09F069-BE94-E442-91CB-CB58B4F0BE5B}" destId="{5B7C8165-0E5B-2E49-92AD-00FC0E3DDF35}" srcOrd="0" destOrd="0" presId="urn:microsoft.com/office/officeart/2005/8/layout/vList2"/>
    <dgm:cxn modelId="{85EE958A-BABB-C042-BE6A-54EB454D207E}" srcId="{DC110BF8-D1E1-46C9-80B4-205F4385CB79}" destId="{A12F2B0F-131D-AE4C-9C8A-9CC5011FDACB}" srcOrd="1" destOrd="0" parTransId="{D6F2F0ED-E71D-174A-9CD3-8DA6E8481419}" sibTransId="{9B61D214-2643-B94A-9619-C1D97DAEC566}"/>
    <dgm:cxn modelId="{4D934395-0920-F24C-B8E0-65B6EC057600}" srcId="{4E51D7D8-D538-BE49-AAC9-27586C8B6897}" destId="{9A1801FF-2434-0A4A-B980-661BE7AEC5C4}" srcOrd="1" destOrd="0" parTransId="{BE70627C-F497-FA41-AB87-8D904A9C9A36}" sibTransId="{D0268944-E215-B648-A588-310E2F6AC074}"/>
    <dgm:cxn modelId="{9C6CB9B6-6BB8-A545-BF78-87F98BB5639B}" type="presOf" srcId="{9A1801FF-2434-0A4A-B980-661BE7AEC5C4}" destId="{5B7C8165-0E5B-2E49-92AD-00FC0E3DDF35}" srcOrd="0" destOrd="1" presId="urn:microsoft.com/office/officeart/2005/8/layout/vList2"/>
    <dgm:cxn modelId="{F9C9A7B7-D219-8042-9A3B-11D3CFD1F058}" type="presOf" srcId="{132C8178-6431-F84E-B397-197720C54339}" destId="{5B7C8165-0E5B-2E49-92AD-00FC0E3DDF35}" srcOrd="0" destOrd="2" presId="urn:microsoft.com/office/officeart/2005/8/layout/vList2"/>
    <dgm:cxn modelId="{3F4317BD-7A98-9C48-92A3-F9D50A40AA3A}" type="presOf" srcId="{969AD4A0-4C3D-1D46-BB03-5DFF4006BC49}" destId="{81F25CBB-2FAD-1445-80AA-3238C9AEB3F1}" srcOrd="0" destOrd="0" presId="urn:microsoft.com/office/officeart/2005/8/layout/vList2"/>
    <dgm:cxn modelId="{4178AECC-9E5A-804B-8B46-E9C4D4A693AD}" srcId="{4E51D7D8-D538-BE49-AAC9-27586C8B6897}" destId="{0D09F069-BE94-E442-91CB-CB58B4F0BE5B}" srcOrd="0" destOrd="0" parTransId="{5C2ED5E1-B366-104F-A1C4-5463C61D7C0B}" sibTransId="{F6B7C5A0-035A-AA45-8BBD-E573B1864DDC}"/>
    <dgm:cxn modelId="{46FB63DD-8519-FD47-A80D-DFCAA73543E0}" srcId="{DC110BF8-D1E1-46C9-80B4-205F4385CB79}" destId="{4E51D7D8-D538-BE49-AAC9-27586C8B6897}" srcOrd="2" destOrd="0" parTransId="{5389620A-4653-0D48-B35A-D55FCAC88BB6}" sibTransId="{F3C95A86-7159-9A45-AC25-7829E4881EBF}"/>
    <dgm:cxn modelId="{23A23CFC-1905-B540-8A21-A610E8C24C37}" type="presOf" srcId="{A12F2B0F-131D-AE4C-9C8A-9CC5011FDACB}" destId="{5BC82BB6-F681-5C42-B9E9-8C6B8215AAF8}" srcOrd="0" destOrd="0" presId="urn:microsoft.com/office/officeart/2005/8/layout/vList2"/>
    <dgm:cxn modelId="{EE3E9EFC-9F13-AC4A-8888-A63466F3290E}" type="presParOf" srcId="{FE18F82F-92B9-9548-851A-3769294845DA}" destId="{81F25CBB-2FAD-1445-80AA-3238C9AEB3F1}" srcOrd="0" destOrd="0" presId="urn:microsoft.com/office/officeart/2005/8/layout/vList2"/>
    <dgm:cxn modelId="{81CF8C18-9D8F-DF42-B925-2DD6042B2CD4}" type="presParOf" srcId="{FE18F82F-92B9-9548-851A-3769294845DA}" destId="{5E1D2D87-3942-774A-9AC9-0ABE4F607757}" srcOrd="1" destOrd="0" presId="urn:microsoft.com/office/officeart/2005/8/layout/vList2"/>
    <dgm:cxn modelId="{0B2B8E10-7053-6748-AD8B-A25E1522056F}" type="presParOf" srcId="{FE18F82F-92B9-9548-851A-3769294845DA}" destId="{5BC82BB6-F681-5C42-B9E9-8C6B8215AAF8}" srcOrd="2" destOrd="0" presId="urn:microsoft.com/office/officeart/2005/8/layout/vList2"/>
    <dgm:cxn modelId="{C68C5C5D-B75B-8E43-9532-E6D69F198E7B}" type="presParOf" srcId="{FE18F82F-92B9-9548-851A-3769294845DA}" destId="{7AE6268A-4422-2949-8F98-5E7537671C34}" srcOrd="3" destOrd="0" presId="urn:microsoft.com/office/officeart/2005/8/layout/vList2"/>
    <dgm:cxn modelId="{3DCFFDA2-0B16-0F48-8D6B-1B3DF3B2A505}" type="presParOf" srcId="{FE18F82F-92B9-9548-851A-3769294845DA}" destId="{714AE9A2-B5E7-7643-A9D2-19B79385B3E3}" srcOrd="4" destOrd="0" presId="urn:microsoft.com/office/officeart/2005/8/layout/vList2"/>
    <dgm:cxn modelId="{7FEF644D-A4C5-A040-9ABA-E37427EA3F08}" type="presParOf" srcId="{FE18F82F-92B9-9548-851A-3769294845DA}" destId="{5B7C8165-0E5B-2E49-92AD-00FC0E3DDF35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67F50D-204B-9649-8681-55BC8EE5204F}">
      <dsp:nvSpPr>
        <dsp:cNvPr id="0" name=""/>
        <dsp:cNvSpPr/>
      </dsp:nvSpPr>
      <dsp:spPr>
        <a:xfrm>
          <a:off x="2978" y="0"/>
          <a:ext cx="2362619" cy="2588458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4199" tIns="330200" rIns="184199" bIns="33020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Build a model to classify whether an individual earns </a:t>
          </a:r>
          <a:r>
            <a:rPr lang="en-US" sz="1500" b="1" i="0" kern="1200" baseline="0"/>
            <a:t>&gt; $50K</a:t>
          </a:r>
          <a:r>
            <a:rPr lang="en-US" sz="1500" b="0" i="0" kern="1200" baseline="0"/>
            <a:t> annually</a:t>
          </a:r>
          <a:endParaRPr lang="en-US" sz="1500" kern="1200"/>
        </a:p>
      </dsp:txBody>
      <dsp:txXfrm>
        <a:off x="2978" y="983614"/>
        <a:ext cx="2362619" cy="1553074"/>
      </dsp:txXfrm>
    </dsp:sp>
    <dsp:sp modelId="{8B93AA4D-9A28-0B42-AEF5-FC30676E58BA}">
      <dsp:nvSpPr>
        <dsp:cNvPr id="0" name=""/>
        <dsp:cNvSpPr/>
      </dsp:nvSpPr>
      <dsp:spPr>
        <a:xfrm>
          <a:off x="796018" y="258845"/>
          <a:ext cx="776537" cy="776537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542" tIns="12700" rIns="60542" bIns="1270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 dirty="0"/>
            <a:t>1</a:t>
          </a:r>
        </a:p>
      </dsp:txBody>
      <dsp:txXfrm>
        <a:off x="909739" y="372566"/>
        <a:ext cx="549095" cy="549095"/>
      </dsp:txXfrm>
    </dsp:sp>
    <dsp:sp modelId="{98B3B6B3-2BFD-F448-A7DB-4563BBBC2462}">
      <dsp:nvSpPr>
        <dsp:cNvPr id="0" name=""/>
        <dsp:cNvSpPr/>
      </dsp:nvSpPr>
      <dsp:spPr>
        <a:xfrm>
          <a:off x="2978" y="2588386"/>
          <a:ext cx="2362619" cy="72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C3CD7AE8-F5E3-E846-BD20-05F7A2C24C0E}">
      <dsp:nvSpPr>
        <dsp:cNvPr id="0" name=""/>
        <dsp:cNvSpPr/>
      </dsp:nvSpPr>
      <dsp:spPr>
        <a:xfrm>
          <a:off x="2601859" y="0"/>
          <a:ext cx="2362619" cy="2588458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4199" tIns="330200" rIns="184199" bIns="33020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Understand </a:t>
          </a:r>
          <a:r>
            <a:rPr lang="en-US" sz="1500" b="1" i="0" kern="1200" baseline="0"/>
            <a:t>key socioeconomic factors</a:t>
          </a:r>
          <a:r>
            <a:rPr lang="en-US" sz="1500" b="0" i="0" kern="1200" baseline="0"/>
            <a:t> behind income</a:t>
          </a:r>
          <a:endParaRPr lang="en-US" sz="1500" kern="1200"/>
        </a:p>
      </dsp:txBody>
      <dsp:txXfrm>
        <a:off x="2601859" y="983614"/>
        <a:ext cx="2362619" cy="1553074"/>
      </dsp:txXfrm>
    </dsp:sp>
    <dsp:sp modelId="{5F4D4946-F835-2D47-BD23-E86319F3A3B0}">
      <dsp:nvSpPr>
        <dsp:cNvPr id="0" name=""/>
        <dsp:cNvSpPr/>
      </dsp:nvSpPr>
      <dsp:spPr>
        <a:xfrm>
          <a:off x="3394899" y="258845"/>
          <a:ext cx="776537" cy="776537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542" tIns="12700" rIns="60542" bIns="1270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2</a:t>
          </a:r>
        </a:p>
      </dsp:txBody>
      <dsp:txXfrm>
        <a:off x="3508620" y="372566"/>
        <a:ext cx="549095" cy="549095"/>
      </dsp:txXfrm>
    </dsp:sp>
    <dsp:sp modelId="{35723714-71E4-3D4E-82CF-4940138C116B}">
      <dsp:nvSpPr>
        <dsp:cNvPr id="0" name=""/>
        <dsp:cNvSpPr/>
      </dsp:nvSpPr>
      <dsp:spPr>
        <a:xfrm>
          <a:off x="2601859" y="2588386"/>
          <a:ext cx="2362619" cy="72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2496882-9E1F-E647-A9B0-CE5037942ECF}">
      <dsp:nvSpPr>
        <dsp:cNvPr id="0" name=""/>
        <dsp:cNvSpPr/>
      </dsp:nvSpPr>
      <dsp:spPr>
        <a:xfrm>
          <a:off x="5200739" y="0"/>
          <a:ext cx="2362619" cy="2588458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4199" tIns="330200" rIns="184199" bIns="33020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Compare </a:t>
          </a:r>
          <a:r>
            <a:rPr lang="en-US" sz="1500" b="1" i="0" kern="1200" baseline="0"/>
            <a:t>baseline model (Logistic Regression)</a:t>
          </a:r>
          <a:r>
            <a:rPr lang="en-US" sz="1500" b="0" i="0" kern="1200" baseline="0"/>
            <a:t> with </a:t>
          </a:r>
          <a:r>
            <a:rPr lang="en-US" sz="1500" b="1" i="0" kern="1200" baseline="0"/>
            <a:t>XGBoost</a:t>
          </a:r>
          <a:endParaRPr lang="en-US" sz="1500" kern="1200"/>
        </a:p>
      </dsp:txBody>
      <dsp:txXfrm>
        <a:off x="5200739" y="983614"/>
        <a:ext cx="2362619" cy="1553074"/>
      </dsp:txXfrm>
    </dsp:sp>
    <dsp:sp modelId="{7445009A-F692-F34B-BA99-584A8812559C}">
      <dsp:nvSpPr>
        <dsp:cNvPr id="0" name=""/>
        <dsp:cNvSpPr/>
      </dsp:nvSpPr>
      <dsp:spPr>
        <a:xfrm>
          <a:off x="5993780" y="258845"/>
          <a:ext cx="776537" cy="776537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542" tIns="12700" rIns="60542" bIns="1270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3</a:t>
          </a:r>
          <a:endParaRPr lang="en-US" sz="3700" kern="1200" dirty="0"/>
        </a:p>
      </dsp:txBody>
      <dsp:txXfrm>
        <a:off x="6107501" y="372566"/>
        <a:ext cx="549095" cy="549095"/>
      </dsp:txXfrm>
    </dsp:sp>
    <dsp:sp modelId="{508DC28C-B118-6946-9921-5AE43FAB06A2}">
      <dsp:nvSpPr>
        <dsp:cNvPr id="0" name=""/>
        <dsp:cNvSpPr/>
      </dsp:nvSpPr>
      <dsp:spPr>
        <a:xfrm>
          <a:off x="5200739" y="2588386"/>
          <a:ext cx="2362619" cy="72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0D83AAD-0174-F443-8440-CFA1FCBE2FD1}">
      <dsp:nvSpPr>
        <dsp:cNvPr id="0" name=""/>
        <dsp:cNvSpPr/>
      </dsp:nvSpPr>
      <dsp:spPr>
        <a:xfrm>
          <a:off x="7799620" y="0"/>
          <a:ext cx="2362619" cy="2588458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4199" tIns="330200" rIns="184199" bIns="33020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 dirty="0"/>
            <a:t>Interpret model behavior using </a:t>
          </a:r>
          <a:r>
            <a:rPr lang="en-US" sz="1500" b="1" i="0" kern="1200" baseline="0" dirty="0"/>
            <a:t>Feature Importance+ SHAP</a:t>
          </a:r>
          <a:endParaRPr lang="en-US" sz="1500" kern="1200" dirty="0"/>
        </a:p>
      </dsp:txBody>
      <dsp:txXfrm>
        <a:off x="7799620" y="983614"/>
        <a:ext cx="2362619" cy="1553074"/>
      </dsp:txXfrm>
    </dsp:sp>
    <dsp:sp modelId="{5E38CF66-9274-BA49-90A3-CA7281AA197A}">
      <dsp:nvSpPr>
        <dsp:cNvPr id="0" name=""/>
        <dsp:cNvSpPr/>
      </dsp:nvSpPr>
      <dsp:spPr>
        <a:xfrm>
          <a:off x="8592661" y="258845"/>
          <a:ext cx="776537" cy="776537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542" tIns="12700" rIns="60542" bIns="1270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4</a:t>
          </a:r>
        </a:p>
      </dsp:txBody>
      <dsp:txXfrm>
        <a:off x="8706382" y="372566"/>
        <a:ext cx="549095" cy="549095"/>
      </dsp:txXfrm>
    </dsp:sp>
    <dsp:sp modelId="{26D66D40-8941-0B47-9CD8-E6F42435C844}">
      <dsp:nvSpPr>
        <dsp:cNvPr id="0" name=""/>
        <dsp:cNvSpPr/>
      </dsp:nvSpPr>
      <dsp:spPr>
        <a:xfrm>
          <a:off x="7799620" y="2588386"/>
          <a:ext cx="2362619" cy="72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F25CBB-2FAD-1445-80AA-3238C9AEB3F1}">
      <dsp:nvSpPr>
        <dsp:cNvPr id="0" name=""/>
        <dsp:cNvSpPr/>
      </dsp:nvSpPr>
      <dsp:spPr>
        <a:xfrm>
          <a:off x="0" y="43028"/>
          <a:ext cx="10515600" cy="78624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Adult Census dataset (48,842 rows, 15+ features)</a:t>
          </a:r>
        </a:p>
      </dsp:txBody>
      <dsp:txXfrm>
        <a:off x="38381" y="81409"/>
        <a:ext cx="10438838" cy="709478"/>
      </dsp:txXfrm>
    </dsp:sp>
    <dsp:sp modelId="{5BC82BB6-F681-5C42-B9E9-8C6B8215AAF8}">
      <dsp:nvSpPr>
        <dsp:cNvPr id="0" name=""/>
        <dsp:cNvSpPr/>
      </dsp:nvSpPr>
      <dsp:spPr>
        <a:xfrm>
          <a:off x="0" y="921428"/>
          <a:ext cx="10515600" cy="78624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Target variable: </a:t>
          </a:r>
          <a:r>
            <a:rPr lang="en-US" sz="3200" b="1" kern="1200"/>
            <a:t>high_income</a:t>
          </a:r>
          <a:r>
            <a:rPr lang="en-US" sz="3200" kern="1200"/>
            <a:t> (1 = &gt;50K, 0 = ≤50K)</a:t>
          </a:r>
        </a:p>
      </dsp:txBody>
      <dsp:txXfrm>
        <a:off x="38381" y="959809"/>
        <a:ext cx="10438838" cy="709478"/>
      </dsp:txXfrm>
    </dsp:sp>
    <dsp:sp modelId="{714AE9A2-B5E7-7643-A9D2-19B79385B3E3}">
      <dsp:nvSpPr>
        <dsp:cNvPr id="0" name=""/>
        <dsp:cNvSpPr/>
      </dsp:nvSpPr>
      <dsp:spPr>
        <a:xfrm>
          <a:off x="0" y="1799829"/>
          <a:ext cx="10515600" cy="78624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Features include:</a:t>
          </a:r>
        </a:p>
      </dsp:txBody>
      <dsp:txXfrm>
        <a:off x="38381" y="1838210"/>
        <a:ext cx="10438838" cy="709478"/>
      </dsp:txXfrm>
    </dsp:sp>
    <dsp:sp modelId="{5B7C8165-0E5B-2E49-92AD-00FC0E3DDF35}">
      <dsp:nvSpPr>
        <dsp:cNvPr id="0" name=""/>
        <dsp:cNvSpPr/>
      </dsp:nvSpPr>
      <dsp:spPr>
        <a:xfrm>
          <a:off x="0" y="2586069"/>
          <a:ext cx="10515600" cy="17222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40640" rIns="227584" bIns="40640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500" kern="1200"/>
            <a:t>Age, education, marital status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500" kern="1200"/>
            <a:t>Occupation, capital gain/loss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500" kern="1200"/>
            <a:t>Hours per week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500" kern="1200"/>
            <a:t>Demographics &amp; work information</a:t>
          </a:r>
        </a:p>
      </dsp:txBody>
      <dsp:txXfrm>
        <a:off x="0" y="2586069"/>
        <a:ext cx="10515600" cy="17222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06749A-4F8C-7942-80DB-E7861ABF6EED}" type="datetimeFigureOut">
              <a:rPr lang="en-US" smtClean="0"/>
              <a:t>12/7/25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D2436C-FFCB-1043-AE32-05969035B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4332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D2436C-FFCB-1043-AE32-05969035BD3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7245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Conclusion:</a:t>
            </a:r>
            <a:r>
              <a:rPr lang="zh-CN" altLang="en-US" b="1" dirty="0"/>
              <a:t> </a:t>
            </a:r>
            <a:r>
              <a:rPr lang="en-US" dirty="0" err="1"/>
              <a:t>XGBoost</a:t>
            </a:r>
            <a:r>
              <a:rPr lang="en-US" dirty="0"/>
              <a:t> handles nonlinear relationships and imbalanced patterns better.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D2436C-FFCB-1043-AE32-05969035BD3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8694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D2436C-FFCB-1043-AE32-05969035BD3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6713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DADDF-424B-6129-55A5-58CB33435F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D3E6C5-B6A8-4199-36D1-E14BC480BD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4D0E09-3C28-504E-F7AB-9ED5CB84C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C0689-88AC-5D4F-BA41-9A48DE3097EA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002CF0-952A-E0B1-3774-5DB94E2AB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C5692B-EA34-6CEC-9421-D75C656DD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19F5C-90CD-F74C-A3F8-BACAB27175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6946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4E76C-9D92-8F95-8B76-8730B1274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4C585D-8AA8-408A-6D4D-A93E77C70E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9ED4DA-1335-F177-CB12-E0A5BDE3E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C0689-88AC-5D4F-BA41-9A48DE3097EA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399B96-2C18-59B2-B939-0F549E16A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67CBEA-F6D2-4261-4B0A-D17340999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19F5C-90CD-F74C-A3F8-BACAB27175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7692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F850D-9D5E-6B03-AF3F-88881B2A0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8363B0-730A-E4DD-807E-492F490E62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E2F3BD-CBFE-75C5-D891-A625EE168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C0689-88AC-5D4F-BA41-9A48DE3097EA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22FE95-FA72-B100-A361-CE0988649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C95F55-160F-A758-5D04-1B6DB02FC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19F5C-90CD-F74C-A3F8-BACAB27175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6562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5621C-DF7F-FABE-F896-9E27BD62C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BEF74B-F39B-F072-6DE7-74875408B1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C9FE60-A7E6-D332-6611-6E88BA3C60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26D919-71D9-3FF6-EFBB-7AE5B3FDA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C0689-88AC-5D4F-BA41-9A48DE3097EA}" type="datetimeFigureOut">
              <a:rPr lang="en-US" smtClean="0"/>
              <a:t>12/7/25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CDBFF4-9FBC-F686-F471-A3FA0AE4B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A14558-2BCE-FD78-F8DB-C0E040D6C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19F5C-90CD-F74C-A3F8-BACAB27175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494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ADBD0-0331-794C-5FF0-43D1957AF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F4EBB9-A77C-85D7-B21C-6CC0BA922B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260A13-8E63-DD3D-A813-A093EAAFA7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B8604F-B39E-7878-EA11-53BC65970C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D0D204-6177-CC2A-CB20-EE1A3DB386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B897C6-FEA9-CB45-4EA2-36A46CB05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C0689-88AC-5D4F-BA41-9A48DE3097EA}" type="datetimeFigureOut">
              <a:rPr lang="en-US" smtClean="0"/>
              <a:t>12/7/25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EA33B3-D37C-4E02-134F-B617CD922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AB9545-63FF-1603-2EB4-69657CC09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19F5C-90CD-F74C-A3F8-BACAB27175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3762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B1F86-2A3E-5483-3386-1890279FB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6288F5-CA12-EA10-E05C-E14F97CC6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C0689-88AC-5D4F-BA41-9A48DE3097EA}" type="datetimeFigureOut">
              <a:rPr lang="en-US" smtClean="0"/>
              <a:t>12/7/25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E0D94E-F125-C912-7C64-65180AF1A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51765F-39BE-91C2-77AB-B5B939315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19F5C-90CD-F74C-A3F8-BACAB27175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49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567AD0-A25B-55D5-4B62-51B343316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C0689-88AC-5D4F-BA41-9A48DE3097EA}" type="datetimeFigureOut">
              <a:rPr lang="en-US" smtClean="0"/>
              <a:t>12/7/25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580A64-5107-6D7A-5BD2-DE4548002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13E4E6-792C-718B-B07C-6BDD7893B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19F5C-90CD-F74C-A3F8-BACAB27175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952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95660-47B2-AD74-23F3-C70169184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7BACD3-773D-0DDF-2838-B6C92374E7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56C45F-9D89-7CE1-7138-F36F0E8138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79BCE1-2F54-91D5-0083-D6F17F38D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C0689-88AC-5D4F-BA41-9A48DE3097EA}" type="datetimeFigureOut">
              <a:rPr lang="en-US" smtClean="0"/>
              <a:t>12/7/25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CF500A-C27C-B2AD-1A3D-7415A7516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D08B3C-C552-DD5B-DE59-88166F35A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19F5C-90CD-F74C-A3F8-BACAB27175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5347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25564-5A68-8F5A-64AD-EB320A6D2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E662C60-DFFB-6A06-67AB-2F04EB37AD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1B6F92-32B0-B90C-941B-74A7F6B9C6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789659-0980-0626-07E8-3DD905D53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C0689-88AC-5D4F-BA41-9A48DE3097EA}" type="datetimeFigureOut">
              <a:rPr lang="en-US" smtClean="0"/>
              <a:t>12/7/25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89E974-1F62-22FF-007A-7BF7E70ED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D13D53-53EF-09B4-2898-DFC07EA3C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19F5C-90CD-F74C-A3F8-BACAB27175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5549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ADABB-B31C-896C-B049-1DA59DE4F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708BE1-E8E4-CE00-DA3A-4816AF1FD2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1AF441-0417-D01F-BE77-19515B0A9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C0689-88AC-5D4F-BA41-9A48DE3097EA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072209-37A9-84B6-7878-6E1E3D740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50D8EF-A6B1-0D38-9081-5F9DBF165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19F5C-90CD-F74C-A3F8-BACAB27175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41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A7A53B-0FF3-A5B8-9D82-F53EDE6E53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6C61C9-221E-E995-9D6F-C744C4E44F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C6F04F-A0EF-CA95-C607-ABD9749E9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C0689-88AC-5D4F-BA41-9A48DE3097EA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D4DADA-0BFE-5568-BC8A-C31CC0D4F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41F35C-B0C5-B90F-76F1-6D6CC71E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19F5C-90CD-F74C-A3F8-BACAB27175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0076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CFAA56-14F6-8100-6935-22232DC3E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60B52B-969E-92A5-4399-BCCF5F2629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7D508B-CAEC-C233-D6D0-5325A608E8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FC0689-88AC-5D4F-BA41-9A48DE3097EA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77052D-74B4-1EF0-D50D-0EC653ED4C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3F4BF1-C459-BCBF-22CF-35467383F7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319F5C-90CD-F74C-A3F8-BACAB27175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615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0FC677-8D0C-F93D-E087-8F75387A32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80430" y="583345"/>
            <a:ext cx="7160357" cy="4164820"/>
          </a:xfrm>
        </p:spPr>
        <p:txBody>
          <a:bodyPr anchor="t">
            <a:normAutofit/>
          </a:bodyPr>
          <a:lstStyle/>
          <a:p>
            <a:pPr algn="r"/>
            <a:r>
              <a:rPr lang="en-US" sz="7400">
                <a:solidFill>
                  <a:srgbClr val="FFFFFF"/>
                </a:solidFill>
              </a:rPr>
              <a:t>Predicting High Income Using Machine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B4D6AF-81A3-CA05-0676-FA593D055A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8228" y="5972174"/>
            <a:ext cx="8578699" cy="504825"/>
          </a:xfrm>
        </p:spPr>
        <p:txBody>
          <a:bodyPr>
            <a:noAutofit/>
          </a:bodyPr>
          <a:lstStyle/>
          <a:p>
            <a:pPr algn="l"/>
            <a:r>
              <a:rPr lang="en-US" sz="1500" dirty="0">
                <a:solidFill>
                  <a:srgbClr val="FFFFFF"/>
                </a:solidFill>
              </a:rPr>
              <a:t>Adult Census Dataset — Logistic Regression &amp; </a:t>
            </a:r>
            <a:r>
              <a:rPr lang="en-US" sz="1500" dirty="0" err="1">
                <a:solidFill>
                  <a:srgbClr val="FFFFFF"/>
                </a:solidFill>
              </a:rPr>
              <a:t>XGBoost</a:t>
            </a:r>
            <a:endParaRPr lang="en-US" sz="1500" dirty="0">
              <a:solidFill>
                <a:srgbClr val="FFFFFF"/>
              </a:solidFill>
            </a:endParaRPr>
          </a:p>
          <a:p>
            <a:pPr algn="l"/>
            <a:r>
              <a:rPr lang="en-US" sz="1500" dirty="0">
                <a:solidFill>
                  <a:srgbClr val="FFFFFF"/>
                </a:solidFill>
              </a:rPr>
              <a:t>12/07/2025</a:t>
            </a:r>
          </a:p>
        </p:txBody>
      </p:sp>
      <p:sp>
        <p:nvSpPr>
          <p:cNvPr id="10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0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2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4764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3" descr="Why We Pay Taxes | HISTORY">
            <a:extLst>
              <a:ext uri="{FF2B5EF4-FFF2-40B4-BE49-F238E27FC236}">
                <a16:creationId xmlns:a16="http://schemas.microsoft.com/office/drawing/2014/main" id="{37C34B5C-1426-DA94-4AA9-96B6DC043AF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096" b="1"/>
          <a:stretch>
            <a:fillRect/>
          </a:stretch>
        </p:blipFill>
        <p:spPr bwMode="auto">
          <a:xfrm>
            <a:off x="-1504" y="0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78F5B005-66B8-DE9E-725A-97205A220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25195"/>
            <a:ext cx="10165218" cy="2806506"/>
          </a:xfrm>
        </p:spPr>
        <p:txBody>
          <a:bodyPr anchor="b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Project Objective</a:t>
            </a:r>
          </a:p>
        </p:txBody>
      </p:sp>
      <p:graphicFrame>
        <p:nvGraphicFramePr>
          <p:cNvPr id="7" name="Rectangle 1">
            <a:extLst>
              <a:ext uri="{FF2B5EF4-FFF2-40B4-BE49-F238E27FC236}">
                <a16:creationId xmlns:a16="http://schemas.microsoft.com/office/drawing/2014/main" id="{FA9E140A-72F6-DB69-B97A-5A746725FB1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76952704"/>
              </p:ext>
            </p:extLst>
          </p:nvPr>
        </p:nvGraphicFramePr>
        <p:xfrm>
          <a:off x="838200" y="3526300"/>
          <a:ext cx="10165218" cy="25884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82668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F788AA-E4EE-041B-55A5-ABD90B1E4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0" name="Rectangle 717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170" name="Picture 2" descr="Why we should register voters when they file their taxes | Brookings">
            <a:extLst>
              <a:ext uri="{FF2B5EF4-FFF2-40B4-BE49-F238E27FC236}">
                <a16:creationId xmlns:a16="http://schemas.microsoft.com/office/drawing/2014/main" id="{EC6365B7-5A31-4212-2A68-86CD11AF7FD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12" r="9091" b="16779"/>
          <a:stretch>
            <a:fillRect/>
          </a:stretch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215FC75-364D-48D3-1F99-F50622AFA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/>
              <a:t>Dataset Overview</a:t>
            </a:r>
          </a:p>
        </p:txBody>
      </p:sp>
      <p:graphicFrame>
        <p:nvGraphicFramePr>
          <p:cNvPr id="7" name="Rectangle 1">
            <a:extLst>
              <a:ext uri="{FF2B5EF4-FFF2-40B4-BE49-F238E27FC236}">
                <a16:creationId xmlns:a16="http://schemas.microsoft.com/office/drawing/2014/main" id="{F266EC1B-14E4-60D4-BF3C-E3A2C2E8710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5128653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722792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211" name="Rectangle 8210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03D876-3B86-3932-A81C-576539DA9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5251316" cy="1807305"/>
          </a:xfrm>
        </p:spPr>
        <p:txBody>
          <a:bodyPr>
            <a:normAutofit/>
          </a:bodyPr>
          <a:lstStyle/>
          <a:p>
            <a:r>
              <a:rPr lang="en-US"/>
              <a:t>Data Cleaning &amp; Preparation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6577C7EB-B6C8-648A-3BD4-7E0400843AF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333297"/>
            <a:ext cx="4619621" cy="384366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Replaced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 Unicode MS" panose="020B0604020202020204" pitchFamily="34" charset="-128"/>
              </a:rPr>
              <a:t>'?'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 with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NaN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Grouped many categorical variables into simpler categories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Converted categorical features →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dummy variables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Final dataset ready for ML modeling</a:t>
            </a:r>
          </a:p>
        </p:txBody>
      </p:sp>
      <p:pic>
        <p:nvPicPr>
          <p:cNvPr id="8196" name="Picture 4" descr="How Income Taxes Work | HowStuffWorks">
            <a:extLst>
              <a:ext uri="{FF2B5EF4-FFF2-40B4-BE49-F238E27FC236}">
                <a16:creationId xmlns:a16="http://schemas.microsoft.com/office/drawing/2014/main" id="{DEB2D929-A086-2FEE-992F-53F948F18B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31" r="20932" b="-1"/>
          <a:stretch>
            <a:fillRect/>
          </a:stretch>
        </p:blipFill>
        <p:spPr bwMode="auto"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32606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223" name="Rectangle 9222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218" name="Picture 2" descr="U.S. Perceptions of 'Fair' Income Taxes Hold Near Record Low">
            <a:extLst>
              <a:ext uri="{FF2B5EF4-FFF2-40B4-BE49-F238E27FC236}">
                <a16:creationId xmlns:a16="http://schemas.microsoft.com/office/drawing/2014/main" id="{2B82FACB-D3E6-1BF2-4E45-62074C0754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29" r="9960"/>
          <a:stretch>
            <a:fillRect/>
          </a:stretch>
        </p:blipFill>
        <p:spPr bwMode="auto">
          <a:xfrm>
            <a:off x="2522356" y="10"/>
            <a:ext cx="966964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225" name="Rectangle 9224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C8FE5E-14DD-A885-FD48-8889F035B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US" sz="4000"/>
              <a:t>Train/Test Split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008BA5-3342-AED5-CD6C-B0F9A26EDFB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434201"/>
            <a:ext cx="4271682" cy="374276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80/20 split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 Unicode MS" panose="020B0604020202020204" pitchFamily="34" charset="-128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highlight>
                  <a:srgbClr val="C0C0C0"/>
                </a:highlight>
                <a:latin typeface="Arial Unicode MS" panose="020B0604020202020204" pitchFamily="34" charset="-128"/>
              </a:rPr>
              <a:t>stratify=y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 to preserve class balance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Scaling applied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inside pipelines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Prevents data leakage and ensures proper CV evaluation</a:t>
            </a:r>
          </a:p>
        </p:txBody>
      </p:sp>
    </p:spTree>
    <p:extLst>
      <p:ext uri="{BB962C8B-B14F-4D97-AF65-F5344CB8AC3E}">
        <p14:creationId xmlns:p14="http://schemas.microsoft.com/office/powerpoint/2010/main" val="33674004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Demystifying Income Tax: A Beginner's Guide to Understanding the Basics and  Maximizing Your Returns - Inside tax">
            <a:extLst>
              <a:ext uri="{FF2B5EF4-FFF2-40B4-BE49-F238E27FC236}">
                <a16:creationId xmlns:a16="http://schemas.microsoft.com/office/drawing/2014/main" id="{6495FCA5-D226-D2CC-A9E3-07F4393251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" r="10831"/>
          <a:stretch>
            <a:fillRect/>
          </a:stretch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271" name="Rectangle 11270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CAB4FD-D68A-A0B3-CC2D-571458B05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Logistic Regression (Baseline) VS </a:t>
            </a:r>
            <a:r>
              <a:rPr lang="en-US" dirty="0" err="1"/>
              <a:t>XGBoost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830139-D715-A094-6723-5FA9241352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Performance</a:t>
            </a:r>
          </a:p>
          <a:p>
            <a:r>
              <a:rPr lang="en-US" b="1" dirty="0"/>
              <a:t>Accuracy:</a:t>
            </a:r>
            <a:r>
              <a:rPr lang="en-US" dirty="0"/>
              <a:t> ~0.85</a:t>
            </a:r>
          </a:p>
          <a:p>
            <a:r>
              <a:rPr lang="en-US" b="1" dirty="0"/>
              <a:t>Precision (Class 1):</a:t>
            </a:r>
            <a:r>
              <a:rPr lang="en-US" dirty="0"/>
              <a:t> 0.75</a:t>
            </a:r>
          </a:p>
          <a:p>
            <a:r>
              <a:rPr lang="en-US" b="1" dirty="0"/>
              <a:t>Recall (Class 1):</a:t>
            </a:r>
            <a:r>
              <a:rPr lang="en-US" dirty="0"/>
              <a:t> 0.59</a:t>
            </a:r>
          </a:p>
          <a:p>
            <a:r>
              <a:rPr lang="en-US" b="1" dirty="0"/>
              <a:t>F1 (Class 1):</a:t>
            </a:r>
            <a:r>
              <a:rPr lang="en-US" dirty="0"/>
              <a:t> 0.66</a:t>
            </a:r>
          </a:p>
          <a:p>
            <a:r>
              <a:rPr lang="en-US" b="1" dirty="0"/>
              <a:t>Interpretation</a:t>
            </a:r>
          </a:p>
          <a:p>
            <a:pPr lvl="1"/>
            <a:r>
              <a:rPr lang="en-US" dirty="0"/>
              <a:t>Strong at predicting </a:t>
            </a:r>
            <a:r>
              <a:rPr lang="en-US" b="1" dirty="0"/>
              <a:t>low-income individuals</a:t>
            </a:r>
            <a:endParaRPr lang="en-US" dirty="0"/>
          </a:p>
          <a:p>
            <a:pPr lvl="1"/>
            <a:r>
              <a:rPr lang="en-US" dirty="0"/>
              <a:t>Misses many </a:t>
            </a:r>
            <a:r>
              <a:rPr lang="en-US" b="1" dirty="0"/>
              <a:t>high-income individuals</a:t>
            </a:r>
            <a:r>
              <a:rPr lang="en-US" dirty="0"/>
              <a:t> (class imbalance effect)</a:t>
            </a:r>
          </a:p>
          <a:p>
            <a:pPr lvl="1"/>
            <a:r>
              <a:rPr lang="en-US" dirty="0"/>
              <a:t>Serves as our </a:t>
            </a:r>
            <a:r>
              <a:rPr lang="en-US" b="1" dirty="0"/>
              <a:t>baseline benchmark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4DC129-140A-56F2-B5FB-1BB349BF5CE8}"/>
              </a:ext>
            </a:extLst>
          </p:cNvPr>
          <p:cNvSpPr txBox="1"/>
          <p:nvPr/>
        </p:nvSpPr>
        <p:spPr>
          <a:xfrm>
            <a:off x="6365174" y="1911927"/>
            <a:ext cx="4988626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b="1" dirty="0" err="1"/>
              <a:t>XGBoost</a:t>
            </a:r>
            <a:r>
              <a:rPr lang="en-US" sz="2600" b="1" dirty="0"/>
              <a:t> Performance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b="1" dirty="0"/>
              <a:t>Accuracy:</a:t>
            </a:r>
            <a:r>
              <a:rPr lang="en-US" sz="2600" dirty="0"/>
              <a:t> ~0.89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b="1" dirty="0"/>
              <a:t>Precision (Class 1):</a:t>
            </a:r>
            <a:r>
              <a:rPr lang="en-US" sz="2600" dirty="0"/>
              <a:t> 0.83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b="1" dirty="0"/>
              <a:t>Recall (Class 1):</a:t>
            </a:r>
            <a:r>
              <a:rPr lang="en-US" sz="2600" dirty="0"/>
              <a:t> 0.69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b="1" dirty="0"/>
              <a:t>F1 (Class 1):</a:t>
            </a:r>
            <a:r>
              <a:rPr lang="en-US" sz="2600" dirty="0"/>
              <a:t> 0.75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b="1" dirty="0"/>
              <a:t>Interpretation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600" dirty="0"/>
              <a:t>Performs </a:t>
            </a:r>
            <a:r>
              <a:rPr lang="en-US" sz="2600" b="1" dirty="0"/>
              <a:t>better</a:t>
            </a:r>
            <a:r>
              <a:rPr lang="en-US" sz="2600" dirty="0"/>
              <a:t> in predicting </a:t>
            </a:r>
            <a:r>
              <a:rPr lang="en-US" sz="2600" b="1" dirty="0"/>
              <a:t>low-income individuals (class 0) </a:t>
            </a:r>
            <a:r>
              <a:rPr lang="en-US" sz="2600" dirty="0"/>
              <a:t>and </a:t>
            </a:r>
            <a:r>
              <a:rPr lang="en-US" sz="2600" b="1" dirty="0"/>
              <a:t>high-income individuals (class 1)</a:t>
            </a:r>
          </a:p>
        </p:txBody>
      </p:sp>
    </p:spTree>
    <p:extLst>
      <p:ext uri="{BB962C8B-B14F-4D97-AF65-F5344CB8AC3E}">
        <p14:creationId xmlns:p14="http://schemas.microsoft.com/office/powerpoint/2010/main" val="17642297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311" name="Rectangle 12310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294" name="Picture 6" descr="Tax On Rental Income: How Much Tax Do You Owe? – Landlord Studio">
            <a:extLst>
              <a:ext uri="{FF2B5EF4-FFF2-40B4-BE49-F238E27FC236}">
                <a16:creationId xmlns:a16="http://schemas.microsoft.com/office/drawing/2014/main" id="{90405BD3-D65F-E261-4DA5-A390C03A6D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882" b="-1"/>
          <a:stretch>
            <a:fillRect/>
          </a:stretch>
        </p:blipFill>
        <p:spPr bwMode="auto">
          <a:xfrm>
            <a:off x="2522356" y="10"/>
            <a:ext cx="966964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313" name="Rectangle 12312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46D91E-8905-7933-1C30-3C056D15C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US" sz="4000"/>
              <a:t>Why Logistic Regression Struggles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7BA1A5-109D-834F-7620-4447E501F3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34201"/>
            <a:ext cx="3822189" cy="3742762"/>
          </a:xfrm>
        </p:spPr>
        <p:txBody>
          <a:bodyPr>
            <a:normAutofit/>
          </a:bodyPr>
          <a:lstStyle/>
          <a:p>
            <a:r>
              <a:rPr lang="en-US" sz="2000" dirty="0"/>
              <a:t>Dataset is </a:t>
            </a:r>
            <a:r>
              <a:rPr lang="en-US" sz="2000" b="1" dirty="0"/>
              <a:t>imbalanced</a:t>
            </a:r>
            <a:r>
              <a:rPr lang="en-US" sz="2000" dirty="0"/>
              <a:t> (high-income minority group)</a:t>
            </a:r>
          </a:p>
          <a:p>
            <a:r>
              <a:rPr lang="en-US" sz="2000" dirty="0"/>
              <a:t>Relationships among variables are </a:t>
            </a:r>
            <a:r>
              <a:rPr lang="en-US" sz="2000" b="1" dirty="0"/>
              <a:t>nonlinear</a:t>
            </a:r>
            <a:endParaRPr lang="en-US" sz="2000" dirty="0"/>
          </a:p>
          <a:p>
            <a:r>
              <a:rPr lang="en-US" sz="2000" dirty="0"/>
              <a:t>Logistic regression is a simple model → cannot capture interaction effects (e.g., education × marital status × occupation)</a:t>
            </a:r>
          </a:p>
          <a:p>
            <a:r>
              <a:rPr lang="en-US" sz="2000" dirty="0"/>
              <a:t>➡️ Need a more flexible model → </a:t>
            </a:r>
            <a:r>
              <a:rPr lang="en-US" sz="2000" dirty="0" err="1"/>
              <a:t>XGBoost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6787668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75" name="Rectangle 2074">
            <a:extLst>
              <a:ext uri="{FF2B5EF4-FFF2-40B4-BE49-F238E27FC236}">
                <a16:creationId xmlns:a16="http://schemas.microsoft.com/office/drawing/2014/main" id="{B1595A09-E336-4D1B-9B3A-06A2287A54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B45695-65D9-E2A9-2E35-952DA4280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777739"/>
            <a:ext cx="3418990" cy="1412119"/>
          </a:xfrm>
        </p:spPr>
        <p:txBody>
          <a:bodyPr>
            <a:normAutofit/>
          </a:bodyPr>
          <a:lstStyle/>
          <a:p>
            <a:r>
              <a:rPr lang="en-US"/>
              <a:t>SHAP Summary Plot</a:t>
            </a:r>
          </a:p>
        </p:txBody>
      </p:sp>
      <p:pic>
        <p:nvPicPr>
          <p:cNvPr id="2059" name="Picture 11" descr="Chart, bar chart&#10;&#10;AI-generated content may be incorrect.">
            <a:extLst>
              <a:ext uri="{FF2B5EF4-FFF2-40B4-BE49-F238E27FC236}">
                <a16:creationId xmlns:a16="http://schemas.microsoft.com/office/drawing/2014/main" id="{DBC39BEF-9858-FD60-ED43-531EFC04A1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425"/>
          <a:stretch>
            <a:fillRect/>
          </a:stretch>
        </p:blipFill>
        <p:spPr bwMode="auto">
          <a:xfrm>
            <a:off x="20" y="10"/>
            <a:ext cx="12191980" cy="4558420"/>
          </a:xfrm>
          <a:custGeom>
            <a:avLst/>
            <a:gdLst/>
            <a:ahLst/>
            <a:cxnLst/>
            <a:rect l="l" t="t" r="r" b="b"/>
            <a:pathLst>
              <a:path w="12188952" h="4558430">
                <a:moveTo>
                  <a:pt x="6789701" y="4490221"/>
                </a:moveTo>
                <a:lnTo>
                  <a:pt x="6788702" y="4490299"/>
                </a:lnTo>
                <a:lnTo>
                  <a:pt x="6788476" y="4490833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3596895"/>
                </a:lnTo>
                <a:lnTo>
                  <a:pt x="12061096" y="3635026"/>
                </a:lnTo>
                <a:cubicBezTo>
                  <a:pt x="11933500" y="3671240"/>
                  <a:pt x="11805390" y="3705769"/>
                  <a:pt x="11676800" y="3738601"/>
                </a:cubicBezTo>
                <a:cubicBezTo>
                  <a:pt x="11262789" y="3846108"/>
                  <a:pt x="10845343" y="3939710"/>
                  <a:pt x="10425355" y="4022140"/>
                </a:cubicBezTo>
                <a:cubicBezTo>
                  <a:pt x="10092810" y="4087351"/>
                  <a:pt x="9759033" y="4145748"/>
                  <a:pt x="9424022" y="4197302"/>
                </a:cubicBezTo>
                <a:cubicBezTo>
                  <a:pt x="9102997" y="4246959"/>
                  <a:pt x="8781133" y="4291526"/>
                  <a:pt x="8458419" y="4331003"/>
                </a:cubicBezTo>
                <a:cubicBezTo>
                  <a:pt x="8211360" y="4361169"/>
                  <a:pt x="7963792" y="4386742"/>
                  <a:pt x="7715970" y="4410950"/>
                </a:cubicBezTo>
                <a:lnTo>
                  <a:pt x="6951716" y="4476730"/>
                </a:lnTo>
                <a:lnTo>
                  <a:pt x="6936303" y="4478801"/>
                </a:lnTo>
                <a:lnTo>
                  <a:pt x="6790448" y="4490162"/>
                </a:lnTo>
                <a:lnTo>
                  <a:pt x="6799941" y="4491982"/>
                </a:lnTo>
                <a:cubicBezTo>
                  <a:pt x="6811623" y="4492448"/>
                  <a:pt x="6823734" y="4490275"/>
                  <a:pt x="6835432" y="4490275"/>
                </a:cubicBezTo>
                <a:cubicBezTo>
                  <a:pt x="6851580" y="4490275"/>
                  <a:pt x="6867729" y="4487668"/>
                  <a:pt x="6884003" y="4487297"/>
                </a:cubicBezTo>
                <a:cubicBezTo>
                  <a:pt x="7115805" y="4481835"/>
                  <a:pt x="7347351" y="4469668"/>
                  <a:pt x="7578771" y="4454770"/>
                </a:cubicBezTo>
                <a:cubicBezTo>
                  <a:pt x="7927552" y="4432302"/>
                  <a:pt x="8276080" y="4404123"/>
                  <a:pt x="8623845" y="4367873"/>
                </a:cubicBezTo>
                <a:cubicBezTo>
                  <a:pt x="8909939" y="4338575"/>
                  <a:pt x="9195310" y="4303940"/>
                  <a:pt x="9479970" y="4263967"/>
                </a:cubicBezTo>
                <a:cubicBezTo>
                  <a:pt x="9864901" y="4209593"/>
                  <a:pt x="10248014" y="4144879"/>
                  <a:pt x="10629308" y="4069810"/>
                </a:cubicBezTo>
                <a:cubicBezTo>
                  <a:pt x="11090114" y="3978690"/>
                  <a:pt x="11546975" y="3871184"/>
                  <a:pt x="11998498" y="3743816"/>
                </a:cubicBezTo>
                <a:lnTo>
                  <a:pt x="12188952" y="3687715"/>
                </a:lnTo>
                <a:lnTo>
                  <a:pt x="12188952" y="3742439"/>
                </a:lnTo>
                <a:lnTo>
                  <a:pt x="11829257" y="3846853"/>
                </a:lnTo>
                <a:cubicBezTo>
                  <a:pt x="11534769" y="3926550"/>
                  <a:pt x="11238120" y="3997436"/>
                  <a:pt x="10939183" y="4061368"/>
                </a:cubicBezTo>
                <a:cubicBezTo>
                  <a:pt x="10622824" y="4129150"/>
                  <a:pt x="10304941" y="4189147"/>
                  <a:pt x="9985530" y="4241373"/>
                </a:cubicBezTo>
                <a:cubicBezTo>
                  <a:pt x="9720036" y="4284822"/>
                  <a:pt x="9453814" y="4323467"/>
                  <a:pt x="9186882" y="4357320"/>
                </a:cubicBezTo>
                <a:cubicBezTo>
                  <a:pt x="8984197" y="4382894"/>
                  <a:pt x="8781514" y="4406977"/>
                  <a:pt x="8578198" y="4426839"/>
                </a:cubicBezTo>
                <a:cubicBezTo>
                  <a:pt x="8340547" y="4449559"/>
                  <a:pt x="8102644" y="4471034"/>
                  <a:pt x="7864358" y="4488290"/>
                </a:cubicBezTo>
                <a:cubicBezTo>
                  <a:pt x="7554994" y="4510634"/>
                  <a:pt x="7245502" y="4528512"/>
                  <a:pt x="6935502" y="4539684"/>
                </a:cubicBezTo>
                <a:cubicBezTo>
                  <a:pt x="6782917" y="4545147"/>
                  <a:pt x="6630334" y="4548995"/>
                  <a:pt x="6477750" y="4553587"/>
                </a:cubicBezTo>
                <a:cubicBezTo>
                  <a:pt x="6439195" y="4551503"/>
                  <a:pt x="6400529" y="4553128"/>
                  <a:pt x="6362294" y="4558430"/>
                </a:cubicBezTo>
                <a:lnTo>
                  <a:pt x="6057129" y="4558430"/>
                </a:lnTo>
                <a:lnTo>
                  <a:pt x="5977784" y="4553836"/>
                </a:lnTo>
                <a:cubicBezTo>
                  <a:pt x="5740261" y="4541423"/>
                  <a:pt x="5502739" y="4527644"/>
                  <a:pt x="5265087" y="4517587"/>
                </a:cubicBezTo>
                <a:cubicBezTo>
                  <a:pt x="4958267" y="4505171"/>
                  <a:pt x="4651826" y="4484691"/>
                  <a:pt x="4346277" y="4455517"/>
                </a:cubicBezTo>
                <a:cubicBezTo>
                  <a:pt x="4021654" y="4424605"/>
                  <a:pt x="3697795" y="4389970"/>
                  <a:pt x="3373045" y="4356948"/>
                </a:cubicBezTo>
                <a:cubicBezTo>
                  <a:pt x="3035412" y="4322686"/>
                  <a:pt x="2698456" y="4283047"/>
                  <a:pt x="2362173" y="4238021"/>
                </a:cubicBezTo>
                <a:cubicBezTo>
                  <a:pt x="1984692" y="4187868"/>
                  <a:pt x="1608364" y="4130142"/>
                  <a:pt x="1233177" y="4064845"/>
                </a:cubicBezTo>
                <a:cubicBezTo>
                  <a:pt x="842181" y="3996132"/>
                  <a:pt x="453758" y="3917644"/>
                  <a:pt x="68500" y="3825138"/>
                </a:cubicBezTo>
                <a:lnTo>
                  <a:pt x="0" y="3807783"/>
                </a:lnTo>
                <a:lnTo>
                  <a:pt x="0" y="3751294"/>
                </a:lnTo>
                <a:lnTo>
                  <a:pt x="72441" y="3770071"/>
                </a:lnTo>
                <a:cubicBezTo>
                  <a:pt x="247961" y="3812249"/>
                  <a:pt x="424164" y="3851509"/>
                  <a:pt x="600716" y="3888441"/>
                </a:cubicBezTo>
                <a:cubicBezTo>
                  <a:pt x="988279" y="3969255"/>
                  <a:pt x="1378133" y="4038153"/>
                  <a:pt x="1769512" y="4098609"/>
                </a:cubicBezTo>
                <a:cubicBezTo>
                  <a:pt x="2052426" y="4142185"/>
                  <a:pt x="2335725" y="4182282"/>
                  <a:pt x="2613554" y="4215551"/>
                </a:cubicBezTo>
                <a:cubicBezTo>
                  <a:pt x="2605544" y="4218158"/>
                  <a:pt x="2594611" y="4208102"/>
                  <a:pt x="2581134" y="4205620"/>
                </a:cubicBezTo>
                <a:cubicBezTo>
                  <a:pt x="2087178" y="4113668"/>
                  <a:pt x="1597684" y="4002775"/>
                  <a:pt x="1112635" y="3872923"/>
                </a:cubicBezTo>
                <a:cubicBezTo>
                  <a:pt x="880453" y="3810852"/>
                  <a:pt x="649713" y="3744374"/>
                  <a:pt x="420412" y="3673490"/>
                </a:cubicBezTo>
                <a:lnTo>
                  <a:pt x="0" y="3534573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77" name="sketch line">
            <a:extLst>
              <a:ext uri="{FF2B5EF4-FFF2-40B4-BE49-F238E27FC236}">
                <a16:creationId xmlns:a16="http://schemas.microsoft.com/office/drawing/2014/main" id="{3540989C-C7B8-473B-BF87-6F2DA6A900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661305" y="5468206"/>
            <a:ext cx="1371600" cy="18288"/>
          </a:xfrm>
          <a:custGeom>
            <a:avLst/>
            <a:gdLst>
              <a:gd name="csX0" fmla="*/ 0 w 1371600"/>
              <a:gd name="csY0" fmla="*/ 0 h 18288"/>
              <a:gd name="csX1" fmla="*/ 685800 w 1371600"/>
              <a:gd name="csY1" fmla="*/ 0 h 18288"/>
              <a:gd name="csX2" fmla="*/ 1371600 w 1371600"/>
              <a:gd name="csY2" fmla="*/ 0 h 18288"/>
              <a:gd name="csX3" fmla="*/ 1371600 w 1371600"/>
              <a:gd name="csY3" fmla="*/ 18288 h 18288"/>
              <a:gd name="csX4" fmla="*/ 713232 w 1371600"/>
              <a:gd name="csY4" fmla="*/ 18288 h 18288"/>
              <a:gd name="csX5" fmla="*/ 0 w 1371600"/>
              <a:gd name="csY5" fmla="*/ 18288 h 18288"/>
              <a:gd name="csX6" fmla="*/ 0 w 1371600"/>
              <a:gd name="csY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371600" h="18288" fill="none" extrusionOk="0">
                <a:moveTo>
                  <a:pt x="0" y="0"/>
                </a:moveTo>
                <a:cubicBezTo>
                  <a:pt x="247303" y="31625"/>
                  <a:pt x="422310" y="-25629"/>
                  <a:pt x="685800" y="0"/>
                </a:cubicBezTo>
                <a:cubicBezTo>
                  <a:pt x="949290" y="25629"/>
                  <a:pt x="1192357" y="6696"/>
                  <a:pt x="1371600" y="0"/>
                </a:cubicBezTo>
                <a:cubicBezTo>
                  <a:pt x="1371355" y="6649"/>
                  <a:pt x="1371915" y="11310"/>
                  <a:pt x="1371600" y="18288"/>
                </a:cubicBezTo>
                <a:cubicBezTo>
                  <a:pt x="1107995" y="26464"/>
                  <a:pt x="1033361" y="32942"/>
                  <a:pt x="713232" y="18288"/>
                </a:cubicBezTo>
                <a:cubicBezTo>
                  <a:pt x="393103" y="3634"/>
                  <a:pt x="289343" y="43221"/>
                  <a:pt x="0" y="18288"/>
                </a:cubicBezTo>
                <a:cubicBezTo>
                  <a:pt x="-459" y="11562"/>
                  <a:pt x="-31" y="5093"/>
                  <a:pt x="0" y="0"/>
                </a:cubicBezTo>
                <a:close/>
              </a:path>
              <a:path w="1371600" h="18288" stroke="0" extrusionOk="0">
                <a:moveTo>
                  <a:pt x="0" y="0"/>
                </a:moveTo>
                <a:cubicBezTo>
                  <a:pt x="170249" y="-24099"/>
                  <a:pt x="504634" y="14338"/>
                  <a:pt x="644652" y="0"/>
                </a:cubicBezTo>
                <a:cubicBezTo>
                  <a:pt x="784670" y="-14338"/>
                  <a:pt x="1087773" y="8679"/>
                  <a:pt x="1371600" y="0"/>
                </a:cubicBezTo>
                <a:cubicBezTo>
                  <a:pt x="1372456" y="3662"/>
                  <a:pt x="1371030" y="13946"/>
                  <a:pt x="1371600" y="18288"/>
                </a:cubicBezTo>
                <a:cubicBezTo>
                  <a:pt x="1176823" y="-1409"/>
                  <a:pt x="900830" y="9989"/>
                  <a:pt x="713232" y="18288"/>
                </a:cubicBezTo>
                <a:cubicBezTo>
                  <a:pt x="525634" y="26587"/>
                  <a:pt x="282837" y="5724"/>
                  <a:pt x="0" y="18288"/>
                </a:cubicBezTo>
                <a:cubicBezTo>
                  <a:pt x="367" y="13143"/>
                  <a:pt x="-823" y="584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61569767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15780B5-67DB-E74B-F98D-8C5612DA346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654294" y="4777739"/>
            <a:ext cx="6897626" cy="139922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sz="1900" b="1"/>
              <a:t>Top influential features:</a:t>
            </a:r>
            <a:endParaRPr lang="en-US" sz="1900"/>
          </a:p>
          <a:p>
            <a:pPr lvl="1"/>
            <a:r>
              <a:rPr lang="en-US" sz="1900"/>
              <a:t>Marital-status (married → much higher income probability)</a:t>
            </a:r>
          </a:p>
          <a:p>
            <a:pPr lvl="1"/>
            <a:r>
              <a:rPr lang="en-US" sz="1900"/>
              <a:t>Education level</a:t>
            </a:r>
          </a:p>
          <a:p>
            <a:pPr lvl="1"/>
            <a:r>
              <a:rPr lang="en-US" sz="1900"/>
              <a:t>Capital-gain</a:t>
            </a:r>
          </a:p>
        </p:txBody>
      </p:sp>
    </p:spTree>
    <p:extLst>
      <p:ext uri="{BB962C8B-B14F-4D97-AF65-F5344CB8AC3E}">
        <p14:creationId xmlns:p14="http://schemas.microsoft.com/office/powerpoint/2010/main" val="25368070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352" name="Rectangle 14351">
            <a:extLst>
              <a:ext uri="{FF2B5EF4-FFF2-40B4-BE49-F238E27FC236}">
                <a16:creationId xmlns:a16="http://schemas.microsoft.com/office/drawing/2014/main" id="{D1D34770-47A8-402C-AF23-2B653F2D8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280CBC-793C-209F-8868-D83605BA5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9" y="723898"/>
            <a:ext cx="6002110" cy="149542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/>
              <a:t>SHAP Summary Plot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22CD20-86D6-B7E8-E9AD-B6BDB8D63E1E}"/>
              </a:ext>
            </a:extLst>
          </p:cNvPr>
          <p:cNvSpPr txBox="1"/>
          <p:nvPr/>
        </p:nvSpPr>
        <p:spPr>
          <a:xfrm>
            <a:off x="836677" y="2405067"/>
            <a:ext cx="6359714" cy="37290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Top influential features:</a:t>
            </a:r>
            <a:endParaRPr lang="en-US" sz="2000" dirty="0"/>
          </a:p>
          <a:p>
            <a:pPr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Marital-status (married → much higher income probability)</a:t>
            </a:r>
          </a:p>
          <a:p>
            <a:pPr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Age</a:t>
            </a:r>
          </a:p>
          <a:p>
            <a:pPr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Capital-gain</a:t>
            </a:r>
          </a:p>
          <a:p>
            <a:pPr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Education level</a:t>
            </a:r>
          </a:p>
          <a:p>
            <a:pPr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Hours-per-week</a:t>
            </a:r>
          </a:p>
        </p:txBody>
      </p:sp>
      <p:pic>
        <p:nvPicPr>
          <p:cNvPr id="14338" name="Picture 2">
            <a:extLst>
              <a:ext uri="{FF2B5EF4-FFF2-40B4-BE49-F238E27FC236}">
                <a16:creationId xmlns:a16="http://schemas.microsoft.com/office/drawing/2014/main" id="{4EE6A5F2-8DF3-F7A7-28E3-76DD25ABBF4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91"/>
          <a:stretch>
            <a:fillRect/>
          </a:stretch>
        </p:blipFill>
        <p:spPr bwMode="auto">
          <a:xfrm>
            <a:off x="7199440" y="10"/>
            <a:ext cx="4992560" cy="6857990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02699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CCD60A-F9A4-122F-35E6-35F1CDC98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239012"/>
          </a:xfrm>
        </p:spPr>
        <p:txBody>
          <a:bodyPr anchor="ctr">
            <a:normAutofit/>
          </a:bodyPr>
          <a:lstStyle/>
          <a:p>
            <a:r>
              <a:rPr lang="en-US" sz="2800"/>
              <a:t>SHAP: Hours-per-Week Effect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6456AAC-866B-7A68-0B11-2837AA34034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71094" y="2718054"/>
            <a:ext cx="3438906" cy="32072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Working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&lt; 30 hours/week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strongly predicts low income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Working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&gt; 40 hours/week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increases probability of high income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Marital status amplifies the effect (married people tend to work more &amp; earn more)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B9B95AC7-B8C8-B3C0-77C1-EE4CF57C79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901184" y="1030632"/>
            <a:ext cx="6922008" cy="4897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1676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398" name="Rectangle 16397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6400" name="Freeform: Shape 16392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6401" name="Freeform: Shape 16394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22343B-D9A7-4FF7-0CA9-3C623D64F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239012"/>
          </a:xfrm>
        </p:spPr>
        <p:txBody>
          <a:bodyPr anchor="ctr">
            <a:normAutofit/>
          </a:bodyPr>
          <a:lstStyle/>
          <a:p>
            <a:r>
              <a:rPr lang="en-US" sz="2800"/>
              <a:t>Hours-per-Week Effect</a:t>
            </a:r>
          </a:p>
        </p:txBody>
      </p:sp>
      <p:sp>
        <p:nvSpPr>
          <p:cNvPr id="16397" name="Rectangle 16396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399" name="Rectangle 16398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C22057-774D-CC72-B9E5-13A28C5922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anchor="t">
            <a:normAutofit/>
          </a:bodyPr>
          <a:lstStyle/>
          <a:p>
            <a:r>
              <a:rPr lang="en-US" sz="1700"/>
              <a:t>Working </a:t>
            </a:r>
            <a:r>
              <a:rPr lang="en-US" sz="1700" b="1"/>
              <a:t>&lt; 30 hours/week</a:t>
            </a:r>
            <a:r>
              <a:rPr lang="en-US" sz="1700"/>
              <a:t> strongly predicts low income</a:t>
            </a:r>
          </a:p>
          <a:p>
            <a:r>
              <a:rPr lang="en-US" sz="1700"/>
              <a:t>Working </a:t>
            </a:r>
            <a:r>
              <a:rPr lang="en-US" sz="1700" b="1"/>
              <a:t>&gt; 40 hours/week</a:t>
            </a:r>
            <a:r>
              <a:rPr lang="en-US" sz="1700"/>
              <a:t> increases probability of high income</a:t>
            </a:r>
          </a:p>
          <a:p>
            <a:r>
              <a:rPr lang="en-US" sz="1700"/>
              <a:t>Marital status amplifies the effect (married people tend to work more &amp; earn more)</a:t>
            </a:r>
          </a:p>
          <a:p>
            <a:pPr marL="0" indent="0">
              <a:buNone/>
            </a:pPr>
            <a:endParaRPr lang="en-US" sz="1700"/>
          </a:p>
        </p:txBody>
      </p:sp>
      <p:pic>
        <p:nvPicPr>
          <p:cNvPr id="16386" name="Picture 2">
            <a:extLst>
              <a:ext uri="{FF2B5EF4-FFF2-40B4-BE49-F238E27FC236}">
                <a16:creationId xmlns:a16="http://schemas.microsoft.com/office/drawing/2014/main" id="{243BCAEF-9550-FA03-2A60-45DA5F839B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901184" y="1082547"/>
            <a:ext cx="6922008" cy="4793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42654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9" name="Rectangle 1843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8434" name="Picture 2" descr="Thank You For Making The 2019 Tax Season Our Best Ever">
            <a:extLst>
              <a:ext uri="{FF2B5EF4-FFF2-40B4-BE49-F238E27FC236}">
                <a16:creationId xmlns:a16="http://schemas.microsoft.com/office/drawing/2014/main" id="{3DF42E7C-8A63-89E3-121E-6B5623D45B7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10" b="336"/>
          <a:stretch>
            <a:fillRect/>
          </a:stretch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76359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521</TotalTime>
  <Words>446</Words>
  <Application>Microsoft Macintosh PowerPoint</Application>
  <PresentationFormat>Widescreen</PresentationFormat>
  <Paragraphs>76</Paragraphs>
  <Slides>12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 Unicode MS</vt:lpstr>
      <vt:lpstr>Aptos</vt:lpstr>
      <vt:lpstr>Aptos Display</vt:lpstr>
      <vt:lpstr>Arial</vt:lpstr>
      <vt:lpstr>Calibri</vt:lpstr>
      <vt:lpstr>Office Theme</vt:lpstr>
      <vt:lpstr>Predicting High Income Using Machine Learning</vt:lpstr>
      <vt:lpstr>Project Objective</vt:lpstr>
      <vt:lpstr>Dataset Overview</vt:lpstr>
      <vt:lpstr>Data Cleaning &amp; Preparation</vt:lpstr>
      <vt:lpstr>Train/Test Split</vt:lpstr>
      <vt:lpstr>Logistic Regression (Baseline) VS XGBoost</vt:lpstr>
      <vt:lpstr>Why Logistic Regression Struggles</vt:lpstr>
      <vt:lpstr>SHAP Summary Plot</vt:lpstr>
      <vt:lpstr>SHAP Summary Plot</vt:lpstr>
      <vt:lpstr>SHAP: Hours-per-Week Effect</vt:lpstr>
      <vt:lpstr>Hours-per-Week Effect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Chen, Qinghao (DISB)</dc:creator>
  <cp:lastModifiedBy>Chen, Qinghao (DISB)</cp:lastModifiedBy>
  <cp:revision>1</cp:revision>
  <dcterms:created xsi:type="dcterms:W3CDTF">2025-12-07T18:01:13Z</dcterms:created>
  <dcterms:modified xsi:type="dcterms:W3CDTF">2025-12-08T02:42:51Z</dcterms:modified>
</cp:coreProperties>
</file>